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6.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dcd6189-1c57-3792-58ca-fb9ca9d3e985}">
          <p14:sldIdLst>
            <p14:sldId id="256"/>
            <p14:sldId id="257"/>
          </p14:sldIdLst>
        </p14:section>
        <p14:section name="Section B: Ewe" id="{c1d7cd91-0fd7-90fe-5264-f14fa3f453af}">
          <p14:sldIdLst>
            <p14:sldId id="258"/>
            <p14:sldId id="259"/>
            <p14:sldId id="260"/>
            <p14:sldId id="261"/>
          </p14:sldIdLst>
        </p14:section>
        <p14:section name="Section C: Health LLM" id="{604fb261-ff22-ffb0-1bea-9ea232f872cd}">
          <p14:sldIdLst>
            <p14:sldId id="262"/>
            <p14:sldId id="263"/>
            <p14:sldId id="264"/>
            <p14:sldId id="265"/>
          </p14:sldIdLst>
        </p14:section>
        <p14:section name="Conclusion" id="{d1a1ba15-59a9-8837-e012-11009cac1e61}">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D2E"/>
                </a:solidFill>
                <a:latin typeface="+mn-lt"/>
              </a:defRPr>
            </a:pPr>
            <a:r>
              <a:rPr sz="1400" b="0" i="0" u="none" strike="noStrike">
                <a:solidFill>
                  <a:srgbClr val="0B3D2E"/>
                </a:solidFill>
                <a:latin typeface="+mn-lt"/>
              </a:rPr>
              <a:t>Raw lines by source (47,765)</a:t>
            </a:r>
          </a:p>
        </c:rich>
      </c:tx>
      <c:layout/>
      <c:overlay val="0"/>
    </c:title>
    <c:autoTitleDeleted val="0"/>
    <c:plotArea>
      <c:layout/>
      <c:doughnutChart>
        <c:varyColors val="1"/>
        <c:ser>
          <c:idx val="0"/>
          <c:order val="0"/>
          <c:tx>
            <c:strRef>
              <c:f>Sheet1!$B$1</c:f>
              <c:strCache>
                <c:ptCount val="1"/>
                <c:pt idx="0">
                  <c:v>Lines</c:v>
                </c:pt>
              </c:strCache>
            </c:strRef>
          </c:tx>
          <c:spPr>
            <a:solidFill>
              <a:schemeClr val="accent1"/>
            </a:solidFill>
            <a:ln w="9525" cap="flat">
              <a:solidFill>
                <a:srgbClr val="F9F9F9"/>
              </a:solidFill>
              <a:prstDash val="solid"/>
              <a:round/>
            </a:ln>
            <a:effectLst/>
          </c:spPr>
          <c:dPt>
            <c:idx val="0"/>
            <c:bubble3D val="0"/>
            <c:spPr>
              <a:solidFill>
                <a:srgbClr val="0F6B4A"/>
              </a:solidFill>
              <a:effectLst/>
            </c:spPr>
          </c:dPt>
          <c:dPt>
            <c:idx val="1"/>
            <c:bubble3D val="0"/>
            <c:spPr>
              <a:solidFill>
                <a:srgbClr val="D99A1E"/>
              </a:solidFill>
              <a:effectLst/>
            </c:spPr>
          </c:dPt>
          <c:dLbls>
            <c:dLbl>
              <c:idx val="0"/>
              <c:numFmt formatCode="General" sourceLinked="0"/>
              <c:spPr/>
              <c:txPr>
                <a:bodyPr/>
                <a:lstStyle/>
                <a:p>
                  <a:pPr>
                    <a:defRPr sz="1300" b="1" i="0" u="none" strike="noStrike">
                      <a:solidFill>
                        <a:srgbClr val="FFFFFF"/>
                      </a:solidFill>
                      <a:latin typeface="+mn-lt"/>
                    </a:defRPr>
                  </a:pPr>
                </a:p>
              </c:txPr>
              <c:showLegendKey val="0"/>
              <c:showVal val="1"/>
              <c:showCatName val="0"/>
              <c:showSerName val="0"/>
              <c:showPercent val="0"/>
              <c:showBubbleSize val="0"/>
            </c:dLbl>
            <c:dLbl>
              <c:idx val="1"/>
              <c:numFmt formatCode="General" sourceLinked="0"/>
              <c:spPr/>
              <c:txPr>
                <a:bodyPr/>
                <a:lstStyle/>
                <a:p>
                  <a:pPr>
                    <a:defRPr sz="1300" b="1" i="0" u="none" strike="noStrike">
                      <a:solidFill>
                        <a:srgbClr val="FFFFFF"/>
                      </a:solidFill>
                      <a:latin typeface="+mn-lt"/>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Kaggle EWE-English pairs (Ewe side)</c:v>
                </c:pt>
                <c:pt idx="1">
                  <c:v>Waxal image captions</c:v>
                </c:pt>
              </c:strCache>
            </c:strRef>
          </c:cat>
          <c:val>
            <c:numRef>
              <c:f>Sheet1!$B$2:$B$3</c:f>
              <c:numCache>
                <c:ptCount val="2"/>
                <c:pt idx="0">
                  <c:v>28614</c:v>
                </c:pt>
                <c:pt idx="1">
                  <c:v>19151</c:v>
                </c:pt>
              </c:numCache>
            </c:numRef>
          </c:val>
        </c:ser>
        <c:firstSliceAng val="0"/>
        <c:holeSize val="55"/>
      </c:doughnutChart>
      <c:spPr>
        <a:noFill/>
        <a:ln>
          <a:noFill/>
        </a:ln>
        <a:effectLst/>
      </c:spPr>
    </c:plotArea>
    <c:legend>
      <c:legendPos val="b"/>
      <c:overlay val="0"/>
      <c:txPr>
        <a:bodyPr/>
        <a:lstStyle/>
        <a:p>
          <a:pPr>
            <a:defRPr sz="1200">
              <a:solidFill>
                <a:srgbClr val="5C666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D2E"/>
                </a:solidFill>
                <a:latin typeface="+mn-lt"/>
              </a:defRPr>
            </a:pPr>
            <a:r>
              <a:rPr sz="1400" b="0" i="0" u="none" strike="noStrike">
                <a:solidFill>
                  <a:srgbClr val="0B3D2E"/>
                </a:solidFill>
                <a:latin typeface="+mn-lt"/>
              </a:rPr>
              <a:t>Longer contexts almost never repeat (distinct n-grams per 100 training positions)</a:t>
            </a:r>
          </a:p>
        </c:rich>
      </c:tx>
      <c:layout/>
      <c:overlay val="0"/>
    </c:title>
    <c:autoTitleDeleted val="0"/>
    <c:plotArea>
      <c:layout/>
      <c:barChart>
        <c:barDir val="col"/>
        <c:grouping val="clustered"/>
        <c:varyColors val="0"/>
        <c:ser>
          <c:idx val="0"/>
          <c:order val="0"/>
          <c:tx>
            <c:strRef>
              <c:f>Sheet1!$B$1</c:f>
              <c:strCache>
                <c:ptCount val="1"/>
                <c:pt idx="0">
                  <c:v>Distinct per 100 positions</c:v>
                </c:pt>
              </c:strCache>
            </c:strRef>
          </c:tx>
          <c:spPr>
            <a:solidFill>
              <a:srgbClr val="0F6B4A"/>
            </a:solidFill>
            <a:effectLst/>
          </c:spPr>
          <c:invertIfNegative val="0"/>
          <c:dLbls>
            <c:numFmt formatCode="#,##0" sourceLinked="0"/>
            <c:txPr>
              <a:bodyPr/>
              <a:lstStyle/>
              <a:p>
                <a:pPr>
                  <a:defRPr b="0" i="0" strike="noStrike" sz="1100" u="none">
                    <a:solidFill>
                      <a:srgbClr val="333B37"/>
                    </a:solidFill>
                    <a:latin typeface="+mn-lt"/>
                  </a:defRPr>
                </a:pPr>
              </a:p>
            </c:txPr>
            <c:showLegendKey val="0"/>
            <c:showVal val="1"/>
            <c:showCatName val="0"/>
            <c:showSerName val="0"/>
            <c:showPercent val="0"/>
            <c:showBubbleSize val="0"/>
            <c:showLeaderLines val="0"/>
          </c:dLbls>
          <c:cat>
            <c:multiLvlStrRef>
              <c:f>Sheet1!$A$2:$A$6</c:f>
              <c:multiLvlStrCache>
                <c:ptCount val="5"/>
                <c:lvl>
                  <c:pt idx="0">
                    <c:v>unigram</c:v>
                  </c:pt>
                  <c:pt idx="1">
                    <c:v>bigram</c:v>
                  </c:pt>
                  <c:pt idx="2">
                    <c:v>trigram</c:v>
                  </c:pt>
                  <c:pt idx="3">
                    <c:v>4-gram</c:v>
                  </c:pt>
                  <c:pt idx="4">
                    <c:v>5-gram</c:v>
                  </c:pt>
                </c:lvl>
              </c:multiLvlStrCache>
            </c:multiLvlStrRef>
          </c:cat>
          <c:val>
            <c:numRef>
              <c:f>Sheet1!$B$2:$B$6</c:f>
              <c:numCache>
                <c:formatCode>General</c:formatCode>
                <c:ptCount val="5"/>
                <c:pt idx="0">
                  <c:v>3</c:v>
                </c:pt>
                <c:pt idx="1">
                  <c:v>23</c:v>
                </c:pt>
                <c:pt idx="2">
                  <c:v>53</c:v>
                </c:pt>
                <c:pt idx="3">
                  <c:v>73</c:v>
                </c:pt>
                <c:pt idx="4">
                  <c:v>80</c:v>
                </c:pt>
              </c:numCache>
            </c:numRef>
          </c:val>
        </c:ser>
        <c:dLbls>
          <c:numFmt formatCode="#,##0" sourceLinked="0"/>
          <c:txPr>
            <a:bodyPr/>
            <a:lstStyle/>
            <a:p>
              <a:pPr>
                <a:defRPr b="0" i="0" strike="noStrike" sz="1100" u="none">
                  <a:solidFill>
                    <a:srgbClr val="333B37"/>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C6660"/>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DCE3DF"/>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C666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D2E"/>
                </a:solidFill>
                <a:latin typeface="+mn-lt"/>
              </a:defRPr>
            </a:pPr>
            <a:r>
              <a:rPr sz="1400" b="0" i="0" u="none" strike="noStrike">
                <a:solidFill>
                  <a:srgbClr val="0B3D2E"/>
                </a:solidFill>
                <a:latin typeface="+mn-lt"/>
              </a:rPr>
              <a:t>Test perplexity by version (log scale)</a:t>
            </a:r>
          </a:p>
        </c:rich>
      </c:tx>
      <c:layout/>
      <c:overlay val="0"/>
    </c:title>
    <c:autoTitleDeleted val="0"/>
    <c:plotArea>
      <c:layout/>
      <c:barChart>
        <c:barDir val="col"/>
        <c:grouping val="clustered"/>
        <c:varyColors val="0"/>
        <c:ser>
          <c:idx val="0"/>
          <c:order val="0"/>
          <c:tx>
            <c:strRef>
              <c:f>Sheet1!$B$1</c:f>
              <c:strCache>
                <c:ptCount val="1"/>
                <c:pt idx="0">
                  <c:v>unigram</c:v>
                </c:pt>
              </c:strCache>
            </c:strRef>
          </c:tx>
          <c:spPr>
            <a:solidFill>
              <a:srgbClr val="7FA392"/>
            </a:solidFill>
            <a:effectLst/>
          </c:spPr>
          <c:invertIfNegative val="0"/>
          <c:dLbls>
            <c:numFmt formatCode="#,##0" sourceLinked="0"/>
            <c:txPr>
              <a:bodyPr/>
              <a:lstStyle/>
              <a:p>
                <a:pPr>
                  <a:defRPr b="0" i="0" strike="noStrike" sz="1000" u="none">
                    <a:solidFill>
                      <a:srgbClr val="333B37"/>
                    </a:solidFill>
                    <a:latin typeface="+mn-lt"/>
                  </a:defRPr>
                </a:pPr>
              </a:p>
            </c:txPr>
            <c:showLegendKey val="0"/>
            <c:showVal val="1"/>
            <c:showCatName val="0"/>
            <c:showSerName val="0"/>
            <c:showPercent val="0"/>
            <c:showBubbleSize val="0"/>
            <c:showLeaderLines val="0"/>
          </c:dLbls>
          <c:cat>
            <c:multiLvlStrRef>
              <c:f>Sheet1!$A$2:$A$5</c:f>
              <c:multiLvlStrCache>
                <c:ptCount val="4"/>
                <c:lvl>
                  <c:pt idx="0">
                    <c:v>v1 add-k</c:v>
                  </c:pt>
                  <c:pt idx="1">
                    <c:v>v2 interpolation</c:v>
                  </c:pt>
                  <c:pt idx="2">
                    <c:v>v3 dev tuning</c:v>
                  </c:pt>
                  <c:pt idx="3">
                    <c:v>final</c:v>
                  </c:pt>
                </c:lvl>
              </c:multiLvlStrCache>
            </c:multiLvlStrRef>
          </c:cat>
          <c:val>
            <c:numRef>
              <c:f>Sheet1!$B$2:$B$5</c:f>
              <c:numCache>
                <c:formatCode>General</c:formatCode>
                <c:ptCount val="4"/>
                <c:pt idx="0">
                  <c:v>794</c:v>
                </c:pt>
                <c:pt idx="1">
                  <c:v>794</c:v>
                </c:pt>
                <c:pt idx="2">
                  <c:v>770</c:v>
                </c:pt>
                <c:pt idx="3">
                  <c:v>596</c:v>
                </c:pt>
              </c:numCache>
            </c:numRef>
          </c:val>
        </c:ser>
        <c:ser>
          <c:idx val="1"/>
          <c:order val="1"/>
          <c:tx>
            <c:strRef>
              <c:f>Sheet1!$C$1</c:f>
              <c:strCache>
                <c:ptCount val="1"/>
                <c:pt idx="0">
                  <c:v>bigram</c:v>
                </c:pt>
              </c:strCache>
            </c:strRef>
          </c:tx>
          <c:spPr>
            <a:solidFill>
              <a:srgbClr val="D99A1E"/>
            </a:solidFill>
            <a:effectLst/>
          </c:spPr>
          <c:invertIfNegative val="0"/>
          <c:dLbls>
            <c:numFmt formatCode="#,##0" sourceLinked="0"/>
            <c:txPr>
              <a:bodyPr/>
              <a:lstStyle/>
              <a:p>
                <a:pPr>
                  <a:defRPr b="0" i="0" strike="noStrike" sz="1000" u="none">
                    <a:solidFill>
                      <a:srgbClr val="333B37"/>
                    </a:solidFill>
                    <a:latin typeface="+mn-lt"/>
                  </a:defRPr>
                </a:pPr>
              </a:p>
            </c:txPr>
            <c:showLegendKey val="0"/>
            <c:showVal val="1"/>
            <c:showCatName val="0"/>
            <c:showSerName val="0"/>
            <c:showPercent val="0"/>
            <c:showBubbleSize val="0"/>
            <c:showLeaderLines val="0"/>
          </c:dLbls>
          <c:cat>
            <c:multiLvlStrRef>
              <c:f>Sheet1!$A$2:$A$5</c:f>
              <c:multiLvlStrCache>
                <c:ptCount val="4"/>
                <c:lvl>
                  <c:pt idx="0">
                    <c:v>v1 add-k</c:v>
                  </c:pt>
                  <c:pt idx="1">
                    <c:v>v2 interpolation</c:v>
                  </c:pt>
                  <c:pt idx="2">
                    <c:v>v3 dev tuning</c:v>
                  </c:pt>
                  <c:pt idx="3">
                    <c:v>final</c:v>
                  </c:pt>
                </c:lvl>
              </c:multiLvlStrCache>
            </c:multiLvlStrRef>
          </c:cat>
          <c:val>
            <c:numRef>
              <c:f>Sheet1!$C$2:$C$5</c:f>
              <c:numCache>
                <c:formatCode>General</c:formatCode>
                <c:ptCount val="4"/>
                <c:pt idx="0">
                  <c:v>690</c:v>
                </c:pt>
                <c:pt idx="1">
                  <c:v>244</c:v>
                </c:pt>
                <c:pt idx="2">
                  <c:v>238</c:v>
                </c:pt>
                <c:pt idx="3">
                  <c:v>167</c:v>
                </c:pt>
              </c:numCache>
            </c:numRef>
          </c:val>
        </c:ser>
        <c:ser>
          <c:idx val="2"/>
          <c:order val="2"/>
          <c:tx>
            <c:strRef>
              <c:f>Sheet1!$D$1</c:f>
              <c:strCache>
                <c:ptCount val="1"/>
                <c:pt idx="0">
                  <c:v>trigram</c:v>
                </c:pt>
              </c:strCache>
            </c:strRef>
          </c:tx>
          <c:spPr>
            <a:solidFill>
              <a:srgbClr val="0F6B4A"/>
            </a:solidFill>
            <a:effectLst/>
          </c:spPr>
          <c:invertIfNegative val="0"/>
          <c:dLbls>
            <c:numFmt formatCode="#,##0" sourceLinked="0"/>
            <c:txPr>
              <a:bodyPr/>
              <a:lstStyle/>
              <a:p>
                <a:pPr>
                  <a:defRPr b="0" i="0" strike="noStrike" sz="1000" u="none">
                    <a:solidFill>
                      <a:srgbClr val="333B37"/>
                    </a:solidFill>
                    <a:latin typeface="+mn-lt"/>
                  </a:defRPr>
                </a:pPr>
              </a:p>
            </c:txPr>
            <c:showLegendKey val="0"/>
            <c:showVal val="1"/>
            <c:showCatName val="0"/>
            <c:showSerName val="0"/>
            <c:showPercent val="0"/>
            <c:showBubbleSize val="0"/>
            <c:showLeaderLines val="0"/>
          </c:dLbls>
          <c:cat>
            <c:multiLvlStrRef>
              <c:f>Sheet1!$A$2:$A$5</c:f>
              <c:multiLvlStrCache>
                <c:ptCount val="4"/>
                <c:lvl>
                  <c:pt idx="0">
                    <c:v>v1 add-k</c:v>
                  </c:pt>
                  <c:pt idx="1">
                    <c:v>v2 interpolation</c:v>
                  </c:pt>
                  <c:pt idx="2">
                    <c:v>v3 dev tuning</c:v>
                  </c:pt>
                  <c:pt idx="3">
                    <c:v>final</c:v>
                  </c:pt>
                </c:lvl>
              </c:multiLvlStrCache>
            </c:multiLvlStrRef>
          </c:cat>
          <c:val>
            <c:numRef>
              <c:f>Sheet1!$D$2:$D$5</c:f>
              <c:numCache>
                <c:formatCode>General</c:formatCode>
                <c:ptCount val="4"/>
                <c:pt idx="0">
                  <c:v>4800</c:v>
                </c:pt>
                <c:pt idx="1">
                  <c:v>225</c:v>
                </c:pt>
                <c:pt idx="2">
                  <c:v>190</c:v>
                </c:pt>
                <c:pt idx="3">
                  <c:v>139</c:v>
                </c:pt>
              </c:numCache>
            </c:numRef>
          </c:val>
        </c:ser>
        <c:dLbls>
          <c:numFmt formatCode="#,##0" sourceLinked="0"/>
          <c:txPr>
            <a:bodyPr/>
            <a:lstStyle/>
            <a:p>
              <a:pPr>
                <a:defRPr b="0" i="0" strike="noStrike" sz="1000" u="none">
                  <a:solidFill>
                    <a:srgbClr val="333B37"/>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C6660"/>
                </a:solidFill>
                <a:latin typeface="+mn-lt"/>
              </a:defRPr>
            </a:pPr>
            <a:endParaRPr lang="en-US"/>
          </a:p>
        </c:txPr>
        <c:crossAx val="2094734552"/>
        <c:crosses val="autoZero"/>
        <c:auto val="1"/>
        <c:lblAlgn val="ctr"/>
        <c:noMultiLvlLbl val="1"/>
      </c:catAx>
      <c:valAx>
        <c:axId val="2094734552"/>
        <c:scaling>
          <c:logBase val="10"/>
          <c:orientation val="minMax"/>
          <c:max val="10000"/>
          <c:min val="100"/>
        </c:scaling>
        <c:delete val="0"/>
        <c:axPos val="l"/>
        <c:majorGridlines>
          <c:spPr>
            <a:ln w="9525" cap="flat">
              <a:solidFill>
                <a:srgbClr val="DCE3DF"/>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C6660"/>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5C666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D2E"/>
                </a:solidFill>
                <a:latin typeface="+mn-lt"/>
              </a:defRPr>
            </a:pPr>
            <a:r>
              <a:rPr sz="1400" b="0" i="0" u="none" strike="noStrike">
                <a:solidFill>
                  <a:srgbClr val="0B3D2E"/>
                </a:solidFill>
                <a:latin typeface="+mn-lt"/>
              </a:rPr>
              <a:t>Perplexity by n-gram order (lower is better)</a:t>
            </a:r>
          </a:p>
        </c:rich>
      </c:tx>
      <c:layout/>
      <c:overlay val="0"/>
    </c:title>
    <c:autoTitleDeleted val="0"/>
    <c:plotArea>
      <c:layout/>
      <c:barChart>
        <c:barDir val="col"/>
        <c:grouping val="clustered"/>
        <c:varyColors val="0"/>
        <c:ser>
          <c:idx val="0"/>
          <c:order val="0"/>
          <c:tx>
            <c:strRef>
              <c:f>Sheet1!$B$1</c:f>
              <c:strCache>
                <c:ptCount val="1"/>
                <c:pt idx="0">
                  <c:v>dev (used to tune)</c:v>
                </c:pt>
              </c:strCache>
            </c:strRef>
          </c:tx>
          <c:spPr>
            <a:solidFill>
              <a:srgbClr val="7FA392"/>
            </a:solidFill>
            <a:effectLst/>
          </c:spPr>
          <c:invertIfNegative val="0"/>
          <c:dLbls>
            <c:numFmt formatCode="0" sourceLinked="0"/>
            <c:txPr>
              <a:bodyPr/>
              <a:lstStyle/>
              <a:p>
                <a:pPr>
                  <a:defRPr b="0" i="0" strike="noStrike" sz="1000" u="none">
                    <a:solidFill>
                      <a:srgbClr val="333B37"/>
                    </a:solidFill>
                    <a:latin typeface="+mn-lt"/>
                  </a:defRPr>
                </a:pPr>
              </a:p>
            </c:txPr>
            <c:showLegendKey val="0"/>
            <c:showVal val="1"/>
            <c:showCatName val="0"/>
            <c:showSerName val="0"/>
            <c:showPercent val="0"/>
            <c:showBubbleSize val="0"/>
            <c:showLeaderLines val="0"/>
          </c:dLbls>
          <c:cat>
            <c:multiLvlStrRef>
              <c:f>Sheet1!$A$2:$A$6</c:f>
              <c:multiLvlStrCache>
                <c:ptCount val="5"/>
                <c:lvl>
                  <c:pt idx="0">
                    <c:v>unigram</c:v>
                  </c:pt>
                  <c:pt idx="1">
                    <c:v>bigram</c:v>
                  </c:pt>
                  <c:pt idx="2">
                    <c:v>trigram</c:v>
                  </c:pt>
                  <c:pt idx="3">
                    <c:v>4-gram</c:v>
                  </c:pt>
                  <c:pt idx="4">
                    <c:v>5-gram</c:v>
                  </c:pt>
                </c:lvl>
              </c:multiLvlStrCache>
            </c:multiLvlStrRef>
          </c:cat>
          <c:val>
            <c:numRef>
              <c:f>Sheet1!$B$2:$B$6</c:f>
              <c:numCache>
                <c:formatCode>General</c:formatCode>
                <c:ptCount val="5"/>
                <c:pt idx="0">
                  <c:v>588.9</c:v>
                </c:pt>
                <c:pt idx="1">
                  <c:v>167.6</c:v>
                </c:pt>
                <c:pt idx="2">
                  <c:v>140.9</c:v>
                </c:pt>
                <c:pt idx="3">
                  <c:v>188.4</c:v>
                </c:pt>
                <c:pt idx="4">
                  <c:v>307.2</c:v>
                </c:pt>
              </c:numCache>
            </c:numRef>
          </c:val>
        </c:ser>
        <c:ser>
          <c:idx val="1"/>
          <c:order val="1"/>
          <c:tx>
            <c:strRef>
              <c:f>Sheet1!$C$1</c:f>
              <c:strCache>
                <c:ptCount val="1"/>
                <c:pt idx="0">
                  <c:v>test (scored once)</c:v>
                </c:pt>
              </c:strCache>
            </c:strRef>
          </c:tx>
          <c:spPr>
            <a:solidFill>
              <a:srgbClr val="0F6B4A"/>
            </a:solidFill>
            <a:effectLst/>
          </c:spPr>
          <c:invertIfNegative val="0"/>
          <c:dLbls>
            <c:numFmt formatCode="0" sourceLinked="0"/>
            <c:txPr>
              <a:bodyPr/>
              <a:lstStyle/>
              <a:p>
                <a:pPr>
                  <a:defRPr b="0" i="0" strike="noStrike" sz="1000" u="none">
                    <a:solidFill>
                      <a:srgbClr val="333B37"/>
                    </a:solidFill>
                    <a:latin typeface="+mn-lt"/>
                  </a:defRPr>
                </a:pPr>
              </a:p>
            </c:txPr>
            <c:showLegendKey val="0"/>
            <c:showVal val="1"/>
            <c:showCatName val="0"/>
            <c:showSerName val="0"/>
            <c:showPercent val="0"/>
            <c:showBubbleSize val="0"/>
            <c:showLeaderLines val="0"/>
          </c:dLbls>
          <c:cat>
            <c:multiLvlStrRef>
              <c:f>Sheet1!$A$2:$A$6</c:f>
              <c:multiLvlStrCache>
                <c:ptCount val="5"/>
                <c:lvl>
                  <c:pt idx="0">
                    <c:v>unigram</c:v>
                  </c:pt>
                  <c:pt idx="1">
                    <c:v>bigram</c:v>
                  </c:pt>
                  <c:pt idx="2">
                    <c:v>trigram</c:v>
                  </c:pt>
                  <c:pt idx="3">
                    <c:v>4-gram</c:v>
                  </c:pt>
                  <c:pt idx="4">
                    <c:v>5-gram</c:v>
                  </c:pt>
                </c:lvl>
              </c:multiLvlStrCache>
            </c:multiLvlStrRef>
          </c:cat>
          <c:val>
            <c:numRef>
              <c:f>Sheet1!$C$2:$C$6</c:f>
              <c:numCache>
                <c:formatCode>General</c:formatCode>
                <c:ptCount val="5"/>
                <c:pt idx="0">
                  <c:v>595.9</c:v>
                </c:pt>
                <c:pt idx="1">
                  <c:v>167.3</c:v>
                </c:pt>
                <c:pt idx="2">
                  <c:v>139.2</c:v>
                </c:pt>
                <c:pt idx="3">
                  <c:v>184.6</c:v>
                </c:pt>
                <c:pt idx="4">
                  <c:v>299.6</c:v>
                </c:pt>
              </c:numCache>
            </c:numRef>
          </c:val>
        </c:ser>
        <c:dLbls>
          <c:numFmt formatCode="0" sourceLinked="0"/>
          <c:txPr>
            <a:bodyPr/>
            <a:lstStyle/>
            <a:p>
              <a:pPr>
                <a:defRPr b="0" i="0" strike="noStrike" sz="1000" u="none">
                  <a:solidFill>
                    <a:srgbClr val="333B37"/>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C6660"/>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CE3DF"/>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C6660"/>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5C666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D2E"/>
                </a:solidFill>
                <a:latin typeface="+mn-lt"/>
              </a:defRPr>
            </a:pPr>
            <a:r>
              <a:rPr sz="1400" b="0" i="0" u="none" strike="noStrike">
                <a:solidFill>
                  <a:srgbClr val="0B3D2E"/>
                </a:solidFill>
                <a:latin typeface="+mn-lt"/>
              </a:rPr>
              <a:t>Held-out perplexity, 1,024-token windows (lower is better)</a:t>
            </a:r>
          </a:p>
        </c:rich>
      </c:tx>
      <c:layout/>
      <c:overlay val="0"/>
    </c:title>
    <c:autoTitleDeleted val="0"/>
    <c:plotArea>
      <c:layout/>
      <c:barChart>
        <c:barDir val="col"/>
        <c:grouping val="clustered"/>
        <c:varyColors val="0"/>
        <c:ser>
          <c:idx val="0"/>
          <c:order val="0"/>
          <c:tx>
            <c:strRef>
              <c:f>Sheet1!$B$1</c:f>
              <c:strCache>
                <c:ptCount val="1"/>
                <c:pt idx="0">
                  <c:v>A: base</c:v>
                </c:pt>
              </c:strCache>
            </c:strRef>
          </c:tx>
          <c:spPr>
            <a:solidFill>
              <a:srgbClr val="7FA392"/>
            </a:solidFill>
            <a:effectLst/>
          </c:spPr>
          <c:invertIfNegative val="0"/>
          <c:dLbls>
            <c:numFmt formatCode="0.00" sourceLinked="0"/>
            <c:txPr>
              <a:bodyPr/>
              <a:lstStyle/>
              <a:p>
                <a:pPr>
                  <a:defRPr b="0" i="0" strike="noStrike" sz="900" u="none">
                    <a:solidFill>
                      <a:srgbClr val="333B37"/>
                    </a:solidFill>
                    <a:latin typeface="+mn-lt"/>
                  </a:defRPr>
                </a:pPr>
              </a:p>
            </c:txPr>
            <c:showLegendKey val="0"/>
            <c:showVal val="1"/>
            <c:showCatName val="0"/>
            <c:showSerName val="0"/>
            <c:showPercent val="0"/>
            <c:showBubbleSize val="0"/>
            <c:showLeaderLines val="0"/>
          </c:dLbls>
          <c:cat>
            <c:multiLvlStrRef>
              <c:f>Sheet1!$A$2:$A$5</c:f>
              <c:multiLvlStrCache>
                <c:ptCount val="4"/>
                <c:lvl>
                  <c:pt idx="0">
                    <c:v>MedlinePlus</c:v>
                  </c:pt>
                  <c:pt idx="1">
                    <c:v>Ghana STG/EML</c:v>
                  </c:pt>
                  <c:pt idx="2">
                    <c:v>PubMed Central</c:v>
                  </c:pt>
                  <c:pt idx="3">
                    <c:v>WikiText-2 (control)</c:v>
                  </c:pt>
                </c:lvl>
              </c:multiLvlStrCache>
            </c:multiLvlStrRef>
          </c:cat>
          <c:val>
            <c:numRef>
              <c:f>Sheet1!$B$2:$B$5</c:f>
              <c:numCache>
                <c:formatCode>General</c:formatCode>
                <c:ptCount val="4"/>
                <c:pt idx="0">
                  <c:v>4.12</c:v>
                </c:pt>
                <c:pt idx="1">
                  <c:v>6.59</c:v>
                </c:pt>
                <c:pt idx="2">
                  <c:v>5.15</c:v>
                </c:pt>
                <c:pt idx="3">
                  <c:v>9.66</c:v>
                </c:pt>
              </c:numCache>
            </c:numRef>
          </c:val>
        </c:ser>
        <c:ser>
          <c:idx val="1"/>
          <c:order val="1"/>
          <c:tx>
            <c:strRef>
              <c:f>Sheet1!$C$1</c:f>
              <c:strCache>
                <c:ptCount val="1"/>
                <c:pt idx="0">
                  <c:v>B: + Stage 1</c:v>
                </c:pt>
              </c:strCache>
            </c:strRef>
          </c:tx>
          <c:spPr>
            <a:solidFill>
              <a:srgbClr val="0F6B4A"/>
            </a:solidFill>
            <a:effectLst/>
          </c:spPr>
          <c:invertIfNegative val="0"/>
          <c:dLbls>
            <c:numFmt formatCode="0.00" sourceLinked="0"/>
            <c:txPr>
              <a:bodyPr/>
              <a:lstStyle/>
              <a:p>
                <a:pPr>
                  <a:defRPr b="0" i="0" strike="noStrike" sz="900" u="none">
                    <a:solidFill>
                      <a:srgbClr val="333B37"/>
                    </a:solidFill>
                    <a:latin typeface="+mn-lt"/>
                  </a:defRPr>
                </a:pPr>
              </a:p>
            </c:txPr>
            <c:showLegendKey val="0"/>
            <c:showVal val="1"/>
            <c:showCatName val="0"/>
            <c:showSerName val="0"/>
            <c:showPercent val="0"/>
            <c:showBubbleSize val="0"/>
            <c:showLeaderLines val="0"/>
          </c:dLbls>
          <c:cat>
            <c:multiLvlStrRef>
              <c:f>Sheet1!$A$2:$A$5</c:f>
              <c:multiLvlStrCache>
                <c:ptCount val="4"/>
                <c:lvl>
                  <c:pt idx="0">
                    <c:v>MedlinePlus</c:v>
                  </c:pt>
                  <c:pt idx="1">
                    <c:v>Ghana STG/EML</c:v>
                  </c:pt>
                  <c:pt idx="2">
                    <c:v>PubMed Central</c:v>
                  </c:pt>
                  <c:pt idx="3">
                    <c:v>WikiText-2 (control)</c:v>
                  </c:pt>
                </c:lvl>
              </c:multiLvlStrCache>
            </c:multiLvlStrRef>
          </c:cat>
          <c:val>
            <c:numRef>
              <c:f>Sheet1!$C$2:$C$5</c:f>
              <c:numCache>
                <c:formatCode>General</c:formatCode>
                <c:ptCount val="4"/>
                <c:pt idx="0">
                  <c:v>4.06</c:v>
                </c:pt>
                <c:pt idx="1">
                  <c:v>5.99</c:v>
                </c:pt>
                <c:pt idx="2">
                  <c:v>4.54</c:v>
                </c:pt>
                <c:pt idx="3">
                  <c:v>9.5</c:v>
                </c:pt>
              </c:numCache>
            </c:numRef>
          </c:val>
        </c:ser>
        <c:ser>
          <c:idx val="2"/>
          <c:order val="2"/>
          <c:tx>
            <c:strRef>
              <c:f>Sheet1!$D$1</c:f>
              <c:strCache>
                <c:ptCount val="1"/>
                <c:pt idx="0">
                  <c:v>C: + Stage 1 + 2</c:v>
                </c:pt>
              </c:strCache>
            </c:strRef>
          </c:tx>
          <c:spPr>
            <a:solidFill>
              <a:srgbClr val="D99A1E"/>
            </a:solidFill>
            <a:effectLst/>
          </c:spPr>
          <c:invertIfNegative val="0"/>
          <c:dLbls>
            <c:numFmt formatCode="0.00" sourceLinked="0"/>
            <c:txPr>
              <a:bodyPr/>
              <a:lstStyle/>
              <a:p>
                <a:pPr>
                  <a:defRPr b="0" i="0" strike="noStrike" sz="900" u="none">
                    <a:solidFill>
                      <a:srgbClr val="333B37"/>
                    </a:solidFill>
                    <a:latin typeface="+mn-lt"/>
                  </a:defRPr>
                </a:pPr>
              </a:p>
            </c:txPr>
            <c:showLegendKey val="0"/>
            <c:showVal val="1"/>
            <c:showCatName val="0"/>
            <c:showSerName val="0"/>
            <c:showPercent val="0"/>
            <c:showBubbleSize val="0"/>
            <c:showLeaderLines val="0"/>
          </c:dLbls>
          <c:cat>
            <c:multiLvlStrRef>
              <c:f>Sheet1!$A$2:$A$5</c:f>
              <c:multiLvlStrCache>
                <c:ptCount val="4"/>
                <c:lvl>
                  <c:pt idx="0">
                    <c:v>MedlinePlus</c:v>
                  </c:pt>
                  <c:pt idx="1">
                    <c:v>Ghana STG/EML</c:v>
                  </c:pt>
                  <c:pt idx="2">
                    <c:v>PubMed Central</c:v>
                  </c:pt>
                  <c:pt idx="3">
                    <c:v>WikiText-2 (control)</c:v>
                  </c:pt>
                </c:lvl>
              </c:multiLvlStrCache>
            </c:multiLvlStrRef>
          </c:cat>
          <c:val>
            <c:numRef>
              <c:f>Sheet1!$D$2:$D$5</c:f>
              <c:numCache>
                <c:formatCode>General</c:formatCode>
                <c:ptCount val="4"/>
                <c:pt idx="0">
                  <c:v>4.07</c:v>
                </c:pt>
                <c:pt idx="1">
                  <c:v>6.2</c:v>
                </c:pt>
                <c:pt idx="2">
                  <c:v>4.58</c:v>
                </c:pt>
                <c:pt idx="3">
                  <c:v>9.51</c:v>
                </c:pt>
              </c:numCache>
            </c:numRef>
          </c:val>
        </c:ser>
        <c:dLbls>
          <c:numFmt formatCode="0.00" sourceLinked="0"/>
          <c:txPr>
            <a:bodyPr/>
            <a:lstStyle/>
            <a:p>
              <a:pPr>
                <a:defRPr b="0" i="0" strike="noStrike" sz="900" u="none">
                  <a:solidFill>
                    <a:srgbClr val="333B37"/>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C6660"/>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CE3DF"/>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C6660"/>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5C666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D2E"/>
                </a:solidFill>
                <a:latin typeface="+mn-lt"/>
              </a:defRPr>
            </a:pPr>
            <a:r>
              <a:rPr sz="1400" b="0" i="0" u="none" strike="noStrike">
                <a:solidFill>
                  <a:srgbClr val="0B3D2E"/>
                </a:solidFill>
                <a:latin typeface="+mn-lt"/>
              </a:rPr>
              <a:t>Zero-shot accuracy, % (300 questions each; chance 25%, PubMedQA always-yes ≈ 55%)</a:t>
            </a:r>
          </a:p>
        </c:rich>
      </c:tx>
      <c:layout/>
      <c:overlay val="0"/>
    </c:title>
    <c:autoTitleDeleted val="0"/>
    <c:plotArea>
      <c:layout/>
      <c:barChart>
        <c:barDir val="col"/>
        <c:grouping val="clustered"/>
        <c:varyColors val="0"/>
        <c:ser>
          <c:idx val="0"/>
          <c:order val="0"/>
          <c:tx>
            <c:strRef>
              <c:f>Sheet1!$B$1</c:f>
              <c:strCache>
                <c:ptCount val="1"/>
                <c:pt idx="0">
                  <c:v>A: base</c:v>
                </c:pt>
              </c:strCache>
            </c:strRef>
          </c:tx>
          <c:spPr>
            <a:solidFill>
              <a:srgbClr val="7FA392"/>
            </a:solidFill>
            <a:effectLst/>
          </c:spPr>
          <c:invertIfNegative val="0"/>
          <c:dLbls>
            <c:numFmt formatCode="0.0" sourceLinked="0"/>
            <c:txPr>
              <a:bodyPr/>
              <a:lstStyle/>
              <a:p>
                <a:pPr>
                  <a:defRPr b="0" i="0" strike="noStrike" sz="1000" u="none">
                    <a:solidFill>
                      <a:srgbClr val="333B37"/>
                    </a:solidFill>
                    <a:latin typeface="+mn-lt"/>
                  </a:defRPr>
                </a:pPr>
              </a:p>
            </c:txPr>
            <c:showLegendKey val="0"/>
            <c:showVal val="1"/>
            <c:showCatName val="0"/>
            <c:showSerName val="0"/>
            <c:showPercent val="0"/>
            <c:showBubbleSize val="0"/>
            <c:showLeaderLines val="0"/>
          </c:dLbls>
          <c:cat>
            <c:multiLvlStrRef>
              <c:f>Sheet1!$A$2:$A$4</c:f>
              <c:multiLvlStrCache>
                <c:ptCount val="3"/>
                <c:lvl>
                  <c:pt idx="0">
                    <c:v>MedQA</c:v>
                  </c:pt>
                  <c:pt idx="1">
                    <c:v>MedMCQA</c:v>
                  </c:pt>
                  <c:pt idx="2">
                    <c:v>PubMedQA</c:v>
                  </c:pt>
                </c:lvl>
              </c:multiLvlStrCache>
            </c:multiLvlStrRef>
          </c:cat>
          <c:val>
            <c:numRef>
              <c:f>Sheet1!$B$2:$B$4</c:f>
              <c:numCache>
                <c:formatCode>General</c:formatCode>
                <c:ptCount val="3"/>
                <c:pt idx="0">
                  <c:v>59.3</c:v>
                </c:pt>
                <c:pt idx="1">
                  <c:v>58.3</c:v>
                </c:pt>
                <c:pt idx="2">
                  <c:v>70</c:v>
                </c:pt>
              </c:numCache>
            </c:numRef>
          </c:val>
        </c:ser>
        <c:ser>
          <c:idx val="1"/>
          <c:order val="1"/>
          <c:tx>
            <c:strRef>
              <c:f>Sheet1!$C$1</c:f>
              <c:strCache>
                <c:ptCount val="1"/>
                <c:pt idx="0">
                  <c:v>B: + Stage 1</c:v>
                </c:pt>
              </c:strCache>
            </c:strRef>
          </c:tx>
          <c:spPr>
            <a:solidFill>
              <a:srgbClr val="0F6B4A"/>
            </a:solidFill>
            <a:effectLst/>
          </c:spPr>
          <c:invertIfNegative val="0"/>
          <c:dLbls>
            <c:numFmt formatCode="0.0" sourceLinked="0"/>
            <c:txPr>
              <a:bodyPr/>
              <a:lstStyle/>
              <a:p>
                <a:pPr>
                  <a:defRPr b="0" i="0" strike="noStrike" sz="1000" u="none">
                    <a:solidFill>
                      <a:srgbClr val="333B37"/>
                    </a:solidFill>
                    <a:latin typeface="+mn-lt"/>
                  </a:defRPr>
                </a:pPr>
              </a:p>
            </c:txPr>
            <c:showLegendKey val="0"/>
            <c:showVal val="1"/>
            <c:showCatName val="0"/>
            <c:showSerName val="0"/>
            <c:showPercent val="0"/>
            <c:showBubbleSize val="0"/>
            <c:showLeaderLines val="0"/>
          </c:dLbls>
          <c:cat>
            <c:multiLvlStrRef>
              <c:f>Sheet1!$A$2:$A$4</c:f>
              <c:multiLvlStrCache>
                <c:ptCount val="3"/>
                <c:lvl>
                  <c:pt idx="0">
                    <c:v>MedQA</c:v>
                  </c:pt>
                  <c:pt idx="1">
                    <c:v>MedMCQA</c:v>
                  </c:pt>
                  <c:pt idx="2">
                    <c:v>PubMedQA</c:v>
                  </c:pt>
                </c:lvl>
              </c:multiLvlStrCache>
            </c:multiLvlStrRef>
          </c:cat>
          <c:val>
            <c:numRef>
              <c:f>Sheet1!$C$2:$C$4</c:f>
              <c:numCache>
                <c:formatCode>General</c:formatCode>
                <c:ptCount val="3"/>
                <c:pt idx="0">
                  <c:v>60.3</c:v>
                </c:pt>
                <c:pt idx="1">
                  <c:v>58</c:v>
                </c:pt>
                <c:pt idx="2">
                  <c:v>72.7</c:v>
                </c:pt>
              </c:numCache>
            </c:numRef>
          </c:val>
        </c:ser>
        <c:ser>
          <c:idx val="2"/>
          <c:order val="2"/>
          <c:tx>
            <c:strRef>
              <c:f>Sheet1!$D$1</c:f>
              <c:strCache>
                <c:ptCount val="1"/>
                <c:pt idx="0">
                  <c:v>C: + Stage 1 + 2</c:v>
                </c:pt>
              </c:strCache>
            </c:strRef>
          </c:tx>
          <c:spPr>
            <a:solidFill>
              <a:srgbClr val="D99A1E"/>
            </a:solidFill>
            <a:effectLst/>
          </c:spPr>
          <c:invertIfNegative val="0"/>
          <c:dLbls>
            <c:numFmt formatCode="0.0" sourceLinked="0"/>
            <c:txPr>
              <a:bodyPr/>
              <a:lstStyle/>
              <a:p>
                <a:pPr>
                  <a:defRPr b="0" i="0" strike="noStrike" sz="1000" u="none">
                    <a:solidFill>
                      <a:srgbClr val="333B37"/>
                    </a:solidFill>
                    <a:latin typeface="+mn-lt"/>
                  </a:defRPr>
                </a:pPr>
              </a:p>
            </c:txPr>
            <c:showLegendKey val="0"/>
            <c:showVal val="1"/>
            <c:showCatName val="0"/>
            <c:showSerName val="0"/>
            <c:showPercent val="0"/>
            <c:showBubbleSize val="0"/>
            <c:showLeaderLines val="0"/>
          </c:dLbls>
          <c:cat>
            <c:multiLvlStrRef>
              <c:f>Sheet1!$A$2:$A$4</c:f>
              <c:multiLvlStrCache>
                <c:ptCount val="3"/>
                <c:lvl>
                  <c:pt idx="0">
                    <c:v>MedQA</c:v>
                  </c:pt>
                  <c:pt idx="1">
                    <c:v>MedMCQA</c:v>
                  </c:pt>
                  <c:pt idx="2">
                    <c:v>PubMedQA</c:v>
                  </c:pt>
                </c:lvl>
              </c:multiLvlStrCache>
            </c:multiLvlStrRef>
          </c:cat>
          <c:val>
            <c:numRef>
              <c:f>Sheet1!$D$2:$D$4</c:f>
              <c:numCache>
                <c:formatCode>General</c:formatCode>
                <c:ptCount val="3"/>
                <c:pt idx="0">
                  <c:v>58.7</c:v>
                </c:pt>
                <c:pt idx="1">
                  <c:v>59</c:v>
                </c:pt>
                <c:pt idx="2">
                  <c:v>76</c:v>
                </c:pt>
              </c:numCache>
            </c:numRef>
          </c:val>
        </c:ser>
        <c:dLbls>
          <c:numFmt formatCode="0.0" sourceLinked="0"/>
          <c:txPr>
            <a:bodyPr/>
            <a:lstStyle/>
            <a:p>
              <a:pPr>
                <a:defRPr b="0" i="0" strike="noStrike" sz="1000" u="none">
                  <a:solidFill>
                    <a:srgbClr val="333B37"/>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C6660"/>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DCE3DF"/>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C6660"/>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5C666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scenario: Ankora builds speech recognition, and a speech recogniser needs a language model to choose between words that sound alike. We built two: an n-gram model for Ewe (Section B) and an English model adapted to health text (Section C). The code link is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sections answer the same question: how well does the model predict text it has never seen? The main measure is perplexity (how many words the model is effectively choosing between at each step; lower is better). Note we never compare perplexity across the two sections: different language, vocabulary and tokenizer.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Kaggle side: literary, religious (jw.org), UDHR and web text. Waxal: plain descriptive captions. We use only the Ewe text. An earlier version used 200 online Bible sentences; removing them changed perplexity by about 1.4%, within the 1.2% noise between random splits, so the pipeline is now fully local. Over half the vocabulary appears only once, which is exactly why smoothing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Q2: do n-grams beat neural models for low-resource languages? Our answer is 'partly'. The chart shows the weakness: at order 5, there are 80 different 5-grams per 100 positions, so most long contexts were seen zero or one times. That is sparsity (too little data to estimate each probability), and it is why longer context helped at most about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an n-gram model means counting every 1- to 5-word sequence and turning counts into probabilities (maximum likelihood estimation). Smoothing makes sure nothing gets probability zero. Unigrams use add-k; higher orders interpolate, mixing the long-context estimate with the shorter one. k and the λ weights were tuned on dev only. What convinced us it was learning: perplexity fell with context, real Ewe always beat nonsense, and dev and test agreed. The three bugs are the honest story: each was caught by testing, not by trusting a number that looked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Q4-Q5. Perplexity = exp of the average negative log-probability of each real next word (N = 147,816 test predictions). A perplexity of 139 means the model is as uncertain as picking among 139 equally likely words. The 4- and 5-gram look worse in the chart only because their tuned weights hit the edge of the grid; with a wider grid on dev they roughly tie the trigram. Sample trigram output: 'ke ne wokpɔ dɔmavɔleameŋu aɖe le afi ma hã ava wɔ nane'. More Ewe-shaped with context, but no native speaker has judged grammaticality.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Q2 for Section C: which approaches were possible, which we chose and why. LoRA (low-rank adaptation) freezes the 4 billion original weights and trains small add-on matrices: 66,060,288 parameters, 1.62% of the model. Rank 32, alpha 64, on all seven projection layers of all 36 blocks. Ghana's guidelines are only 1% of the text, so we repeated them three times. Held-out text was split off before any training. We first tried Qwen3.5-2B, but its multimodal tokenizer and vision tower broke training, so we moved to the text-only Qwen3-4B.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packs documents into 2,048-token blocks and learns next-token prediction on everything. Stage 2 sets the question tokens' labels to -100 so the model is graded only on its answer. 8-bit AdamW, learning rate 1e-4, cosine schedule, 32,768 tokens per update, peak 12.9 GB of GPU memory. Stage 1's gain looks small; we trusted it only because held-out perplexity moved the same way (next slide). Honest caveat: Stage 1's training loss sits above validation loss, partly because repeated Ghana windows straddle the train/validation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Q4-Q5. All three models scored on identical text with the same tokenizer, which is the only fair way to compare perplexity. WikiText-2 is the control: it would rise if adaptation caused catastrophic forgetting (losing general-English skill). It did not. MedlinePlus barely moved (−1.5%), probably because it is plain patient language the base model already handles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Extrinsic check: multiple-choice exams scored by comparing the model's next-token scores for the option letters, so nothing is generated or parsed. Each model was scored with a plain and a chat-style prompt and we report the better one. The clearest Stage 2 effect is the gap between those two prompts, which shrinks to about 1 point for model C. On a feverish, drowsy 4-year-old in Northern Ghana, C names likely malaria, a blood test and an antimalarial, while A writes an encyclopaedia entry. C also does not stop cleanly: a generation bug (no stop token) lets it invent a new patient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lessons, not just the numbers. Both projects showed that an improving metric can hide a broken model; testing nonsense sentences and checking the data itself caught what the numbers did not. Both models need expert human review before any real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188720"/>
            <a:ext cx="7498080" cy="457200"/>
          </a:xfrm>
          <a:prstGeom prst="rect">
            <a:avLst/>
          </a:prstGeom>
          <a:noFill/>
          <a:ln/>
        </p:spPr>
        <p:txBody>
          <a:bodyPr wrap="square" rtlCol="0"/>
          <a:lstStyle>
            <a:lvl1pPr indent="0" marL="0">
              <a:buNone/>
              <a:defRPr lang="en-US" sz="1600" b="1" dirty="0">
                <a:solidFill>
                  <a:schemeClr val="accent2"/>
                </a:solidFill>
              </a:defRPr>
            </a:lvl1pPr>
          </a:lstStyle>
          <a:p>
            <a:pPr indent="0" marL="0">
              <a:buNone/>
            </a:pPr>
            <a:endParaRPr lang="en-US" sz="1600" dirty="0"/>
          </a:p>
        </p:txBody>
      </p:sp>
      <p:sp>
        <p:nvSpPr>
          <p:cNvPr id="3" name="Text 0"/>
          <p:cNvSpPr/>
          <p:nvPr>
            <p:ph idx="101" type="title" hasCustomPrompt="1"/>
          </p:nvPr>
        </p:nvSpPr>
        <p:spPr>
          <a:xfrm>
            <a:off x="640080" y="1737360"/>
            <a:ext cx="7498080" cy="1828800"/>
          </a:xfrm>
          <a:prstGeom prst="rect">
            <a:avLst/>
          </a:prstGeom>
          <a:noFill/>
          <a:ln/>
        </p:spPr>
        <p:txBody>
          <a:bodyPr wrap="square" rtlCol="0"/>
          <a:lstStyle>
            <a:lvl1pPr indent="0" marL="0">
              <a:buNone/>
              <a:defRPr lang="en-US" sz="4400" b="1" dirty="0">
                <a:solidFill>
                  <a:schemeClr val="bg1"/>
                </a:solidFill>
              </a:defRPr>
            </a:lvl1pPr>
          </a:lstStyle>
          <a:p>
            <a:pPr indent="0" marL="0">
              <a:buNone/>
            </a:pPr>
            <a:endParaRPr lang="en-US" sz="4400" dirty="0"/>
          </a:p>
        </p:txBody>
      </p:sp>
      <p:sp>
        <p:nvSpPr>
          <p:cNvPr id="4" name="Text 0"/>
          <p:cNvSpPr/>
          <p:nvPr>
            <p:ph idx="102" type="body" hasCustomPrompt="1"/>
          </p:nvPr>
        </p:nvSpPr>
        <p:spPr>
          <a:xfrm>
            <a:off x="640080" y="3657600"/>
            <a:ext cx="7498080" cy="82296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rtlCol="0"/>
          <a:lstStyle>
            <a:lvl1pPr indent="0" marL="0">
              <a:buNone/>
              <a:defRPr lang="en-US" sz="1300" b="1"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548640" y="658368"/>
            <a:ext cx="11064240" cy="73152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Group 3 · ICS554 Prosit 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64240" cy="320040"/>
          </a:xfrm>
          <a:prstGeom prst="rect">
            <a:avLst/>
          </a:prstGeom>
          <a:noFill/>
          <a:ln/>
        </p:spPr>
        <p:txBody>
          <a:bodyPr wrap="square" rtlCol="0"/>
          <a:lstStyle>
            <a:lvl1pPr indent="0" marL="0">
              <a:buNone/>
              <a:defRPr lang="en-US" sz="1300" b="1" dirty="0">
                <a:solidFill>
                  <a:schemeClr val="accent2"/>
                </a:solidFill>
              </a:defRPr>
            </a:lvl1pPr>
          </a:lstStyle>
          <a:p>
            <a:pPr indent="0" marL="0">
              <a:buNone/>
            </a:pPr>
            <a:endParaRPr lang="en-US" sz="1300" dirty="0"/>
          </a:p>
        </p:txBody>
      </p:sp>
      <p:sp>
        <p:nvSpPr>
          <p:cNvPr id="3" name="Text 0"/>
          <p:cNvSpPr/>
          <p:nvPr>
            <p:ph idx="101" type="title" hasCustomPrompt="1"/>
          </p:nvPr>
        </p:nvSpPr>
        <p:spPr>
          <a:xfrm>
            <a:off x="548640" y="822960"/>
            <a:ext cx="11064240" cy="731520"/>
          </a:xfrm>
          <a:prstGeom prst="rect">
            <a:avLst/>
          </a:prstGeom>
          <a:noFill/>
          <a:ln/>
        </p:spPr>
        <p:txBody>
          <a:bodyPr wrap="square" rtlCol="0"/>
          <a:lstStyle>
            <a:lvl1pPr indent="0" marL="0">
              <a:buNone/>
              <a:defRPr lang="en-US" sz="3400" b="1" dirty="0">
                <a:solidFill>
                  <a:schemeClr val="bg1"/>
                </a:solidFill>
              </a:defRPr>
            </a:lvl1pPr>
          </a:lstStyle>
          <a:p>
            <a:pPr indent="0" marL="0">
              <a:buNone/>
            </a:pPr>
            <a:endParaRPr lang="en-US" sz="3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ASU-MICS-2028/nlp-group-3-prosit-1" TargetMode="Externa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4" Type="http://schemas.openxmlformats.org/officeDocument/2006/relationships/chart" Target="/ppt/charts/chart2.xml"/><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188720"/>
            <a:ext cx="7498080" cy="457200"/>
          </a:xfrm>
          <a:prstGeom prst="rect">
            <a:avLst/>
          </a:prstGeom>
          <a:noFill/>
          <a:ln/>
        </p:spPr>
        <p:txBody>
          <a:bodyPr wrap="square" lIns="0" tIns="0" rIns="0" bIns="0" rtlCol="0"/>
          <a:lstStyle/>
          <a:p>
            <a:pPr indent="0" marL="0">
              <a:buNone/>
            </a:pPr>
            <a:r>
              <a:rPr lang="en-US" sz="1600" b="1" dirty="0">
                <a:solidFill>
                  <a:schemeClr val="accent2"/>
                </a:solidFill>
              </a:rPr>
              <a:t>ICS554 NATURAL LANGUAGE PROCESSING · PROSIT 1</a:t>
            </a:r>
            <a:endParaRPr lang="en-US" sz="1600" dirty="0"/>
          </a:p>
        </p:txBody>
      </p:sp>
      <p:sp>
        <p:nvSpPr>
          <p:cNvPr id="3" name="Text 0"/>
          <p:cNvSpPr/>
          <p:nvPr>
            <p:ph idx="101" type="title" hasCustomPrompt="1"/>
          </p:nvPr>
        </p:nvSpPr>
        <p:spPr>
          <a:xfrm>
            <a:off x="640080" y="1737360"/>
            <a:ext cx="7498080" cy="1828800"/>
          </a:xfrm>
          <a:prstGeom prst="rect">
            <a:avLst/>
          </a:prstGeom>
          <a:noFill/>
          <a:ln/>
        </p:spPr>
        <p:txBody>
          <a:bodyPr wrap="square" lIns="0" tIns="0" rIns="0" bIns="0" rtlCol="0" anchor="t"/>
          <a:lstStyle/>
          <a:p>
            <a:pPr indent="0" marL="0">
              <a:buNone/>
            </a:pPr>
            <a:r>
              <a:rPr lang="en-US" sz="4400" b="1" dirty="0">
                <a:solidFill>
                  <a:schemeClr val="bg1"/>
                </a:solidFill>
              </a:rPr>
              <a:t>Building and Adapting Language Models</a:t>
            </a:r>
            <a:endParaRPr lang="en-US" sz="4400" dirty="0"/>
          </a:p>
        </p:txBody>
      </p:sp>
      <p:sp>
        <p:nvSpPr>
          <p:cNvPr id="4" name="Text 0"/>
          <p:cNvSpPr/>
          <p:nvPr>
            <p:ph idx="102" type="body" hasCustomPrompt="1"/>
          </p:nvPr>
        </p:nvSpPr>
        <p:spPr>
          <a:xfrm>
            <a:off x="640080" y="3657600"/>
            <a:ext cx="7498080" cy="822960"/>
          </a:xfrm>
          <a:prstGeom prst="rect">
            <a:avLst/>
          </a:prstGeom>
          <a:noFill/>
          <a:ln/>
        </p:spPr>
        <p:txBody>
          <a:bodyPr wrap="square" lIns="0" tIns="0" rIns="0" bIns="0" rtlCol="0" anchor="t"/>
          <a:lstStyle/>
          <a:p>
            <a:pPr indent="0" marL="0">
              <a:buNone/>
            </a:pPr>
            <a:r>
              <a:rPr lang="en-US" sz="2000" dirty="0">
                <a:solidFill>
                  <a:schemeClr val="bg2"/>
                </a:solidFill>
              </a:rPr>
              <a:t>An Ewe n-gram model and a health-adapted English LLM for Ankora</a:t>
            </a:r>
            <a:endParaRPr lang="en-US" sz="2000" dirty="0"/>
          </a:p>
        </p:txBody>
      </p:sp>
      <p:sp>
        <p:nvSpPr>
          <p:cNvPr id="5" name="Text 3"/>
          <p:cNvSpPr txBox="1"/>
          <p:nvPr/>
        </p:nvSpPr>
        <p:spPr>
          <a:xfrm>
            <a:off x="640080" y="4846320"/>
            <a:ext cx="7498080" cy="365760"/>
          </a:xfrm>
          <a:prstGeom prst="rect">
            <a:avLst/>
          </a:prstGeom>
          <a:noFill/>
          <a:ln/>
        </p:spPr>
        <p:txBody>
          <a:bodyPr wrap="square" lIns="0" tIns="0" rIns="0" bIns="0" rtlCol="0" anchor="t"/>
          <a:lstStyle/>
          <a:p>
            <a:pPr indent="0" marL="0">
              <a:buNone/>
            </a:pPr>
            <a:r>
              <a:rPr lang="en-US" sz="1400" dirty="0">
                <a:solidFill>
                  <a:schemeClr val="accent4"/>
                </a:solidFill>
              </a:rPr>
              <a:t>Eugene Emmanuel Sewor · Henry Kofi Brandoh · Henry Nii-Amarh Olletey · Liza Ekua Ndede Aikins</a:t>
            </a:r>
            <a:endParaRPr lang="en-US" sz="1400" dirty="0"/>
          </a:p>
        </p:txBody>
      </p:sp>
      <p:sp>
        <p:nvSpPr>
          <p:cNvPr id="6" name="Text 4"/>
          <p:cNvSpPr txBox="1"/>
          <p:nvPr/>
        </p:nvSpPr>
        <p:spPr>
          <a:xfrm>
            <a:off x="640080" y="5303520"/>
            <a:ext cx="7498080" cy="365760"/>
          </a:xfrm>
          <a:prstGeom prst="rect">
            <a:avLst/>
          </a:prstGeom>
          <a:noFill/>
          <a:ln/>
        </p:spPr>
        <p:txBody>
          <a:bodyPr wrap="square" lIns="0" tIns="0" rIns="0" bIns="0" rtlCol="0" anchor="t"/>
          <a:lstStyle/>
          <a:p>
            <a:pPr indent="0" marL="0">
              <a:buNone/>
            </a:pPr>
            <a:r>
              <a:rPr lang="en-US" sz="1400" u="sng" dirty="0">
                <a:solidFill>
                  <a:schemeClr val="accent2"/>
                </a:solidFill>
                <a:hlinkClick r:id="rId1" invalidUrl="" action="" tgtFrame="" tooltip="" history="1" highlightClick="0" endSnd="0">
                  <a:extLst>
                    <a:ext uri="{A12FA001-AC4F-418D-AE19-62706E023703}">
                      <ahyp:hlinkClr xmlns:ahyp="http://schemas.microsoft.com/office/drawing/2018/hyperlinkcolor" val="tx"/>
                    </a:ext>
                  </a:extLst>
                </a:hlinkClick>
              </a:rPr>
              <a:t>github.com/ASU-MICS-2028/nlp-group-3-prosit-1</a:t>
            </a:r>
            <a:endParaRPr lang="en-US" sz="1400" dirty="0"/>
          </a:p>
        </p:txBody>
      </p:sp>
      <p:sp>
        <p:nvSpPr>
          <p:cNvPr id="7" name="Language circle"/>
          <p:cNvSpPr/>
          <p:nvPr/>
        </p:nvSpPr>
        <p:spPr>
          <a:xfrm>
            <a:off x="9052560" y="1371600"/>
            <a:ext cx="2011680" cy="2011680"/>
          </a:xfrm>
          <a:prstGeom prst="ellipse">
            <a:avLst/>
          </a:prstGeom>
          <a:solidFill>
            <a:schemeClr val="accent1"/>
          </a:solidFill>
          <a:ln/>
        </p:spPr>
      </p:sp>
      <p:pic>
        <p:nvPicPr>
          <p:cNvPr id="8" name="Language icon" descr="preencoded.png">    </p:cNvPr>
          <p:cNvPicPr>
            <a:picLocks noChangeAspect="1"/>
          </p:cNvPicPr>
          <p:nvPr/>
        </p:nvPicPr>
        <p:blipFill>
          <a:blip r:embed="rId2"/>
          <a:stretch>
            <a:fillRect/>
          </a:stretch>
        </p:blipFill>
        <p:spPr>
          <a:xfrm>
            <a:off x="9555480" y="1874520"/>
            <a:ext cx="1005840" cy="1005840"/>
          </a:xfrm>
          <a:prstGeom prst="rect">
            <a:avLst/>
          </a:prstGeom>
        </p:spPr>
      </p:pic>
      <p:sp>
        <p:nvSpPr>
          <p:cNvPr id="9" name="Health circle"/>
          <p:cNvSpPr/>
          <p:nvPr/>
        </p:nvSpPr>
        <p:spPr>
          <a:xfrm>
            <a:off x="9052560" y="3657600"/>
            <a:ext cx="2011680" cy="2011680"/>
          </a:xfrm>
          <a:prstGeom prst="ellipse">
            <a:avLst/>
          </a:prstGeom>
          <a:solidFill>
            <a:schemeClr val="accent2"/>
          </a:solidFill>
          <a:ln/>
        </p:spPr>
      </p:sp>
      <p:pic>
        <p:nvPicPr>
          <p:cNvPr id="10" name="Health icon" descr="preencoded.png">    </p:cNvPr>
          <p:cNvPicPr>
            <a:picLocks noChangeAspect="1"/>
          </p:cNvPicPr>
          <p:nvPr/>
        </p:nvPicPr>
        <p:blipFill>
          <a:blip r:embed="rId3"/>
          <a:stretch>
            <a:fillRect/>
          </a:stretch>
        </p:blipFill>
        <p:spPr>
          <a:xfrm>
            <a:off x="9555480" y="4160520"/>
            <a:ext cx="1005840" cy="10058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300" b="1" dirty="0">
                <a:solidFill>
                  <a:schemeClr val="accent1"/>
                </a:solidFill>
              </a:rPr>
              <a:t>OVERVIEW</a:t>
            </a:r>
            <a:endParaRPr lang="en-US" sz="13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t"/>
          <a:lstStyle/>
          <a:p>
            <a:pPr indent="0" marL="0">
              <a:buNone/>
            </a:pPr>
            <a:r>
              <a:rPr lang="en-US" sz="3200" b="1" dirty="0">
                <a:solidFill>
                  <a:schemeClr val="tx2"/>
                </a:solidFill>
              </a:rPr>
              <a:t>Two language models, one test: does it predict real text well?</a:t>
            </a:r>
            <a:endParaRPr lang="en-US" sz="3200" dirty="0"/>
          </a:p>
        </p:txBody>
      </p:sp>
      <p:sp>
        <p:nvSpPr>
          <p:cNvPr id="4" name="SECTION B card"/>
          <p:cNvSpPr/>
          <p:nvPr/>
        </p:nvSpPr>
        <p:spPr>
          <a:xfrm>
            <a:off x="548640" y="1737360"/>
            <a:ext cx="5349240" cy="4343400"/>
          </a:xfrm>
          <a:prstGeom prst="roundRect">
            <a:avLst>
              <a:gd name="adj" fmla="val 2526"/>
            </a:avLst>
          </a:prstGeom>
          <a:solidFill>
            <a:schemeClr val="bg2"/>
          </a:solidFill>
          <a:ln/>
        </p:spPr>
      </p:sp>
      <p:sp>
        <p:nvSpPr>
          <p:cNvPr id="5" name="SECTION B circle"/>
          <p:cNvSpPr/>
          <p:nvPr/>
        </p:nvSpPr>
        <p:spPr>
          <a:xfrm>
            <a:off x="914400" y="2057400"/>
            <a:ext cx="777240" cy="777240"/>
          </a:xfrm>
          <a:prstGeom prst="ellipse">
            <a:avLst/>
          </a:prstGeom>
          <a:solidFill>
            <a:schemeClr val="accent1"/>
          </a:solidFill>
          <a:ln/>
        </p:spPr>
      </p:sp>
      <p:pic>
        <p:nvPicPr>
          <p:cNvPr id="6" name="SECTION B icon" descr="preencoded.png">    </p:cNvPr>
          <p:cNvPicPr>
            <a:picLocks noChangeAspect="1"/>
          </p:cNvPicPr>
          <p:nvPr/>
        </p:nvPicPr>
        <p:blipFill>
          <a:blip r:embed="rId1"/>
          <a:stretch>
            <a:fillRect/>
          </a:stretch>
        </p:blipFill>
        <p:spPr>
          <a:xfrm>
            <a:off x="1108710" y="2251710"/>
            <a:ext cx="388620" cy="388620"/>
          </a:xfrm>
          <a:prstGeom prst="rect">
            <a:avLst/>
          </a:prstGeom>
        </p:spPr>
      </p:pic>
      <p:sp>
        <p:nvSpPr>
          <p:cNvPr id="7" name="Text 4"/>
          <p:cNvSpPr txBox="1"/>
          <p:nvPr/>
        </p:nvSpPr>
        <p:spPr>
          <a:xfrm>
            <a:off x="1874520" y="2103120"/>
            <a:ext cx="3657600" cy="274320"/>
          </a:xfrm>
          <a:prstGeom prst="rect">
            <a:avLst/>
          </a:prstGeom>
          <a:noFill/>
          <a:ln/>
        </p:spPr>
        <p:txBody>
          <a:bodyPr wrap="square" lIns="0" tIns="0" rIns="0" bIns="0" rtlCol="0" anchor="t"/>
          <a:lstStyle/>
          <a:p>
            <a:pPr indent="0" marL="0">
              <a:buNone/>
            </a:pPr>
            <a:r>
              <a:rPr lang="en-US" sz="1200" b="1" dirty="0">
                <a:solidFill>
                  <a:schemeClr val="accent1"/>
                </a:solidFill>
              </a:rPr>
              <a:t>SECTION B</a:t>
            </a:r>
            <a:endParaRPr lang="en-US" sz="1200" dirty="0"/>
          </a:p>
        </p:txBody>
      </p:sp>
      <p:sp>
        <p:nvSpPr>
          <p:cNvPr id="8" name="Text 5"/>
          <p:cNvSpPr txBox="1"/>
          <p:nvPr/>
        </p:nvSpPr>
        <p:spPr>
          <a:xfrm>
            <a:off x="1874520" y="2377440"/>
            <a:ext cx="384048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Ewe n-gram model</a:t>
            </a:r>
            <a:endParaRPr lang="en-US" sz="2200" dirty="0"/>
          </a:p>
        </p:txBody>
      </p:sp>
      <p:sp>
        <p:nvSpPr>
          <p:cNvPr id="9" name="Text 6"/>
          <p:cNvSpPr txBox="1"/>
          <p:nvPr/>
        </p:nvSpPr>
        <p:spPr>
          <a:xfrm>
            <a:off x="914400" y="3108960"/>
            <a:ext cx="4617720" cy="914400"/>
          </a:xfrm>
          <a:prstGeom prst="rect">
            <a:avLst/>
          </a:prstGeom>
          <a:noFill/>
          <a:ln/>
        </p:spPr>
        <p:txBody>
          <a:bodyPr wrap="square" lIns="0" tIns="0" rIns="0" bIns="0" rtlCol="0" anchor="t"/>
          <a:lstStyle/>
          <a:p>
            <a:pPr indent="0" marL="0">
              <a:buNone/>
            </a:pPr>
            <a:r>
              <a:rPr lang="en-US" sz="1500" dirty="0">
                <a:solidFill>
                  <a:schemeClr val="tx1"/>
                </a:solidFill>
              </a:rPr>
              <a:t>Counts 1- to 5-word sequences in 1.2M Ewe training tokens and turns the counts into probabilities.</a:t>
            </a:r>
            <a:endParaRPr lang="en-US" sz="1500" dirty="0"/>
          </a:p>
        </p:txBody>
      </p:sp>
      <p:sp>
        <p:nvSpPr>
          <p:cNvPr id="10" name="Text 7"/>
          <p:cNvSpPr txBox="1"/>
          <p:nvPr/>
        </p:nvSpPr>
        <p:spPr>
          <a:xfrm>
            <a:off x="914400" y="4251960"/>
            <a:ext cx="4617720" cy="914400"/>
          </a:xfrm>
          <a:prstGeom prst="rect">
            <a:avLst/>
          </a:prstGeom>
          <a:noFill/>
          <a:ln/>
        </p:spPr>
        <p:txBody>
          <a:bodyPr wrap="square" lIns="0" tIns="0" rIns="0" bIns="0" rtlCol="0" anchor="b"/>
          <a:lstStyle/>
          <a:p>
            <a:pPr indent="0" marL="0">
              <a:buNone/>
            </a:pPr>
            <a:r>
              <a:rPr lang="en-US" sz="4800" b="1" dirty="0">
                <a:solidFill>
                  <a:schemeClr val="accent1"/>
                </a:solidFill>
                <a:latin typeface="Cambria" pitchFamily="34" charset="0"/>
                <a:ea typeface="Cambria" pitchFamily="34" charset="-122"/>
                <a:cs typeface="Cambria" pitchFamily="34" charset="-120"/>
              </a:rPr>
              <a:t>139.2</a:t>
            </a:r>
            <a:endParaRPr lang="en-US" sz="4800" dirty="0"/>
          </a:p>
        </p:txBody>
      </p:sp>
      <p:sp>
        <p:nvSpPr>
          <p:cNvPr id="11" name="Text 8"/>
          <p:cNvSpPr txBox="1"/>
          <p:nvPr/>
        </p:nvSpPr>
        <p:spPr>
          <a:xfrm>
            <a:off x="914400" y="5257800"/>
            <a:ext cx="4617720" cy="365760"/>
          </a:xfrm>
          <a:prstGeom prst="rect">
            <a:avLst/>
          </a:prstGeom>
          <a:noFill/>
          <a:ln/>
        </p:spPr>
        <p:txBody>
          <a:bodyPr wrap="square" lIns="0" tIns="0" rIns="0" bIns="0" rtlCol="0" anchor="t"/>
          <a:lstStyle/>
          <a:p>
            <a:pPr indent="0" marL="0">
              <a:buNone/>
            </a:pPr>
            <a:r>
              <a:rPr lang="en-US" sz="1300" dirty="0">
                <a:solidFill>
                  <a:srgbClr val="5C6660"/>
                </a:solidFill>
              </a:rPr>
              <a:t>test perplexity, trigram (unigram: 595.9)</a:t>
            </a:r>
            <a:endParaRPr lang="en-US" sz="1300" dirty="0"/>
          </a:p>
        </p:txBody>
      </p:sp>
      <p:sp>
        <p:nvSpPr>
          <p:cNvPr id="12" name="SECTION C card"/>
          <p:cNvSpPr/>
          <p:nvPr/>
        </p:nvSpPr>
        <p:spPr>
          <a:xfrm>
            <a:off x="6263640" y="1737360"/>
            <a:ext cx="5349240" cy="4343400"/>
          </a:xfrm>
          <a:prstGeom prst="roundRect">
            <a:avLst>
              <a:gd name="adj" fmla="val 2526"/>
            </a:avLst>
          </a:prstGeom>
          <a:solidFill>
            <a:schemeClr val="bg2"/>
          </a:solidFill>
          <a:ln/>
        </p:spPr>
      </p:sp>
      <p:sp>
        <p:nvSpPr>
          <p:cNvPr id="13" name="SECTION C circle"/>
          <p:cNvSpPr/>
          <p:nvPr/>
        </p:nvSpPr>
        <p:spPr>
          <a:xfrm>
            <a:off x="6629400" y="2057400"/>
            <a:ext cx="777240" cy="777240"/>
          </a:xfrm>
          <a:prstGeom prst="ellipse">
            <a:avLst/>
          </a:prstGeom>
          <a:solidFill>
            <a:schemeClr val="accent2"/>
          </a:solidFill>
          <a:ln/>
        </p:spPr>
      </p:sp>
      <p:pic>
        <p:nvPicPr>
          <p:cNvPr id="14" name="SECTION C icon" descr="preencoded.png">    </p:cNvPr>
          <p:cNvPicPr>
            <a:picLocks noChangeAspect="1"/>
          </p:cNvPicPr>
          <p:nvPr/>
        </p:nvPicPr>
        <p:blipFill>
          <a:blip r:embed="rId2"/>
          <a:stretch>
            <a:fillRect/>
          </a:stretch>
        </p:blipFill>
        <p:spPr>
          <a:xfrm>
            <a:off x="6823710" y="2251710"/>
            <a:ext cx="388620" cy="388620"/>
          </a:xfrm>
          <a:prstGeom prst="rect">
            <a:avLst/>
          </a:prstGeom>
        </p:spPr>
      </p:pic>
      <p:sp>
        <p:nvSpPr>
          <p:cNvPr id="15" name="Text 11"/>
          <p:cNvSpPr txBox="1"/>
          <p:nvPr/>
        </p:nvSpPr>
        <p:spPr>
          <a:xfrm>
            <a:off x="7589520" y="2103120"/>
            <a:ext cx="3657600" cy="274320"/>
          </a:xfrm>
          <a:prstGeom prst="rect">
            <a:avLst/>
          </a:prstGeom>
          <a:noFill/>
          <a:ln/>
        </p:spPr>
        <p:txBody>
          <a:bodyPr wrap="square" lIns="0" tIns="0" rIns="0" bIns="0" rtlCol="0" anchor="t"/>
          <a:lstStyle/>
          <a:p>
            <a:pPr indent="0" marL="0">
              <a:buNone/>
            </a:pPr>
            <a:r>
              <a:rPr lang="en-US" sz="1200" b="1" dirty="0">
                <a:solidFill>
                  <a:schemeClr val="accent1"/>
                </a:solidFill>
              </a:rPr>
              <a:t>SECTION C</a:t>
            </a:r>
            <a:endParaRPr lang="en-US" sz="1200" dirty="0"/>
          </a:p>
        </p:txBody>
      </p:sp>
      <p:sp>
        <p:nvSpPr>
          <p:cNvPr id="16" name="Text 12"/>
          <p:cNvSpPr txBox="1"/>
          <p:nvPr/>
        </p:nvSpPr>
        <p:spPr>
          <a:xfrm>
            <a:off x="7589520" y="2377440"/>
            <a:ext cx="384048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Health-adapted LLM</a:t>
            </a:r>
            <a:endParaRPr lang="en-US" sz="2200" dirty="0"/>
          </a:p>
        </p:txBody>
      </p:sp>
      <p:sp>
        <p:nvSpPr>
          <p:cNvPr id="17" name="Text 13"/>
          <p:cNvSpPr txBox="1"/>
          <p:nvPr/>
        </p:nvSpPr>
        <p:spPr>
          <a:xfrm>
            <a:off x="6629400" y="3108960"/>
            <a:ext cx="4617720" cy="914400"/>
          </a:xfrm>
          <a:prstGeom prst="rect">
            <a:avLst/>
          </a:prstGeom>
          <a:noFill/>
          <a:ln/>
        </p:spPr>
        <p:txBody>
          <a:bodyPr wrap="square" lIns="0" tIns="0" rIns="0" bIns="0" rtlCol="0" anchor="t"/>
          <a:lstStyle/>
          <a:p>
            <a:pPr indent="0" marL="0">
              <a:buNone/>
            </a:pPr>
            <a:r>
              <a:rPr lang="en-US" sz="1500" dirty="0">
                <a:solidFill>
                  <a:schemeClr val="tx1"/>
                </a:solidFill>
              </a:rPr>
              <a:t>Qwen3-4B-Base adapted with LoRA: first reading health text, then practising question-answering.</a:t>
            </a:r>
            <a:endParaRPr lang="en-US" sz="1500" dirty="0"/>
          </a:p>
        </p:txBody>
      </p:sp>
      <p:sp>
        <p:nvSpPr>
          <p:cNvPr id="18" name="Text 14"/>
          <p:cNvSpPr txBox="1"/>
          <p:nvPr/>
        </p:nvSpPr>
        <p:spPr>
          <a:xfrm>
            <a:off x="6629400" y="4251960"/>
            <a:ext cx="4617720" cy="914400"/>
          </a:xfrm>
          <a:prstGeom prst="rect">
            <a:avLst/>
          </a:prstGeom>
          <a:noFill/>
          <a:ln/>
        </p:spPr>
        <p:txBody>
          <a:bodyPr wrap="square" lIns="0" tIns="0" rIns="0" bIns="0" rtlCol="0" anchor="b"/>
          <a:lstStyle/>
          <a:p>
            <a:pPr indent="0" marL="0">
              <a:buNone/>
            </a:pPr>
            <a:r>
              <a:rPr lang="en-US" sz="4800" b="1" dirty="0">
                <a:solidFill>
                  <a:schemeClr val="accent1"/>
                </a:solidFill>
                <a:latin typeface="Cambria" pitchFamily="34" charset="0"/>
                <a:ea typeface="Cambria" pitchFamily="34" charset="-122"/>
                <a:cs typeface="Cambria" pitchFamily="34" charset="-120"/>
              </a:rPr>
              <a:t>5.15 → 4.54</a:t>
            </a:r>
            <a:endParaRPr lang="en-US" sz="4800" dirty="0"/>
          </a:p>
        </p:txBody>
      </p:sp>
      <p:sp>
        <p:nvSpPr>
          <p:cNvPr id="19" name="Text 15"/>
          <p:cNvSpPr txBox="1"/>
          <p:nvPr/>
        </p:nvSpPr>
        <p:spPr>
          <a:xfrm>
            <a:off x="6629400" y="5257800"/>
            <a:ext cx="4617720" cy="365760"/>
          </a:xfrm>
          <a:prstGeom prst="rect">
            <a:avLst/>
          </a:prstGeom>
          <a:noFill/>
          <a:ln/>
        </p:spPr>
        <p:txBody>
          <a:bodyPr wrap="square" lIns="0" tIns="0" rIns="0" bIns="0" rtlCol="0" anchor="t"/>
          <a:lstStyle/>
          <a:p>
            <a:pPr indent="0" marL="0">
              <a:buNone/>
            </a:pPr>
            <a:r>
              <a:rPr lang="en-US" sz="1300" dirty="0">
                <a:solidFill>
                  <a:srgbClr val="5C6660"/>
                </a:solidFill>
              </a:rPr>
              <a:t>PubMed Central perplexity after Stage 1</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300" b="1" dirty="0">
                <a:solidFill>
                  <a:schemeClr val="accent1"/>
                </a:solidFill>
              </a:rPr>
              <a:t>SECTION B · THE DATA</a:t>
            </a:r>
            <a:endParaRPr lang="en-US" sz="13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t"/>
          <a:lstStyle/>
          <a:p>
            <a:pPr indent="0" marL="0">
              <a:buNone/>
            </a:pPr>
            <a:r>
              <a:rPr lang="en-US" sz="3200" b="1" dirty="0">
                <a:solidFill>
                  <a:schemeClr val="tx2"/>
                </a:solidFill>
              </a:rPr>
              <a:t>47,131 Ewe sentences from two local sources</a:t>
            </a:r>
            <a:endParaRPr lang="en-US" sz="3200" dirty="0"/>
          </a:p>
        </p:txBody>
      </p:sp>
      <p:graphicFrame>
        <p:nvGraphicFramePr>
          <p:cNvPr id="4" name="Chart 0" descr=""/>
          <p:cNvGraphicFramePr/>
          <p:nvPr/>
        </p:nvGraphicFramePr>
        <p:xfrm>
          <a:off x="457200" y="1645920"/>
          <a:ext cx="5120640" cy="44805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035040" y="1783080"/>
            <a:ext cx="5577840" cy="594360"/>
          </a:xfrm>
          <a:prstGeom prst="rect">
            <a:avLst/>
          </a:prstGeom>
          <a:noFill/>
          <a:ln/>
        </p:spPr>
        <p:txBody>
          <a:bodyPr wrap="square" lIns="0" tIns="0" rIns="0" bIns="0" rtlCol="0" anchor="t"/>
          <a:lstStyle/>
          <a:p>
            <a:pPr indent="0" marL="0">
              <a:buNone/>
            </a:pPr>
            <a:r>
              <a:rPr lang="en-US" sz="3400" b="1" dirty="0">
                <a:solidFill>
                  <a:schemeClr val="accent1"/>
                </a:solidFill>
                <a:latin typeface="Cambria" pitchFamily="34" charset="0"/>
                <a:ea typeface="Cambria" pitchFamily="34" charset="-122"/>
                <a:cs typeface="Cambria" pitchFamily="34" charset="-120"/>
              </a:rPr>
              <a:t>1.53M</a:t>
            </a:r>
            <a:endParaRPr lang="en-US" sz="3400" dirty="0"/>
          </a:p>
        </p:txBody>
      </p:sp>
      <p:sp>
        <p:nvSpPr>
          <p:cNvPr id="6" name="Text 3"/>
          <p:cNvSpPr txBox="1"/>
          <p:nvPr/>
        </p:nvSpPr>
        <p:spPr>
          <a:xfrm>
            <a:off x="6035040" y="2377440"/>
            <a:ext cx="5577840" cy="365760"/>
          </a:xfrm>
          <a:prstGeom prst="rect">
            <a:avLst/>
          </a:prstGeom>
          <a:noFill/>
          <a:ln/>
        </p:spPr>
        <p:txBody>
          <a:bodyPr wrap="square" lIns="0" tIns="0" rIns="0" bIns="0" rtlCol="0" anchor="t"/>
          <a:lstStyle/>
          <a:p>
            <a:pPr indent="0" marL="0">
              <a:buNone/>
            </a:pPr>
            <a:r>
              <a:rPr lang="en-US" sz="1500" dirty="0">
                <a:solidFill>
                  <a:srgbClr val="5C6660"/>
                </a:solidFill>
              </a:rPr>
              <a:t>tokens after cleaning</a:t>
            </a:r>
            <a:endParaRPr lang="en-US" sz="1500" dirty="0"/>
          </a:p>
        </p:txBody>
      </p:sp>
      <p:sp>
        <p:nvSpPr>
          <p:cNvPr id="7" name="Text 4"/>
          <p:cNvSpPr txBox="1"/>
          <p:nvPr/>
        </p:nvSpPr>
        <p:spPr>
          <a:xfrm>
            <a:off x="6035040" y="2926080"/>
            <a:ext cx="5577840" cy="594360"/>
          </a:xfrm>
          <a:prstGeom prst="rect">
            <a:avLst/>
          </a:prstGeom>
          <a:noFill/>
          <a:ln/>
        </p:spPr>
        <p:txBody>
          <a:bodyPr wrap="square" lIns="0" tIns="0" rIns="0" bIns="0" rtlCol="0" anchor="t"/>
          <a:lstStyle/>
          <a:p>
            <a:pPr indent="0" marL="0">
              <a:buNone/>
            </a:pPr>
            <a:r>
              <a:rPr lang="en-US" sz="3400" b="1" dirty="0">
                <a:solidFill>
                  <a:schemeClr val="accent1"/>
                </a:solidFill>
                <a:latin typeface="Cambria" pitchFamily="34" charset="0"/>
                <a:ea typeface="Cambria" pitchFamily="34" charset="-122"/>
                <a:cs typeface="Cambria" pitchFamily="34" charset="-120"/>
              </a:rPr>
              <a:t>80 / 10 / 10</a:t>
            </a:r>
            <a:endParaRPr lang="en-US" sz="3400" dirty="0"/>
          </a:p>
        </p:txBody>
      </p:sp>
      <p:sp>
        <p:nvSpPr>
          <p:cNvPr id="8" name="Text 5"/>
          <p:cNvSpPr txBox="1"/>
          <p:nvPr/>
        </p:nvSpPr>
        <p:spPr>
          <a:xfrm>
            <a:off x="6035040" y="3520440"/>
            <a:ext cx="5577840" cy="365760"/>
          </a:xfrm>
          <a:prstGeom prst="rect">
            <a:avLst/>
          </a:prstGeom>
          <a:noFill/>
          <a:ln/>
        </p:spPr>
        <p:txBody>
          <a:bodyPr wrap="square" lIns="0" tIns="0" rIns="0" bIns="0" rtlCol="0" anchor="t"/>
          <a:lstStyle/>
          <a:p>
            <a:pPr indent="0" marL="0">
              <a:buNone/>
            </a:pPr>
            <a:r>
              <a:rPr lang="en-US" sz="1500" dirty="0">
                <a:solidFill>
                  <a:srgbClr val="5C6660"/>
                </a:solidFill>
              </a:rPr>
              <a:t>train 37,704 · dev 4,713 · test 4,714 (fixed seed)</a:t>
            </a:r>
            <a:endParaRPr lang="en-US" sz="1500" dirty="0"/>
          </a:p>
        </p:txBody>
      </p:sp>
      <p:sp>
        <p:nvSpPr>
          <p:cNvPr id="9" name="Text 6"/>
          <p:cNvSpPr txBox="1"/>
          <p:nvPr/>
        </p:nvSpPr>
        <p:spPr>
          <a:xfrm>
            <a:off x="6035040" y="4069080"/>
            <a:ext cx="5577840" cy="594360"/>
          </a:xfrm>
          <a:prstGeom prst="rect">
            <a:avLst/>
          </a:prstGeom>
          <a:noFill/>
          <a:ln/>
        </p:spPr>
        <p:txBody>
          <a:bodyPr wrap="square" lIns="0" tIns="0" rIns="0" bIns="0" rtlCol="0" anchor="t"/>
          <a:lstStyle/>
          <a:p>
            <a:pPr indent="0" marL="0">
              <a:buNone/>
            </a:pPr>
            <a:r>
              <a:rPr lang="en-US" sz="3400" b="1" dirty="0">
                <a:solidFill>
                  <a:schemeClr val="accent1"/>
                </a:solidFill>
                <a:latin typeface="Cambria" pitchFamily="34" charset="0"/>
                <a:ea typeface="Cambria" pitchFamily="34" charset="-122"/>
                <a:cs typeface="Cambria" pitchFamily="34" charset="-120"/>
              </a:rPr>
              <a:t>51.6%</a:t>
            </a:r>
            <a:endParaRPr lang="en-US" sz="3400" dirty="0"/>
          </a:p>
        </p:txBody>
      </p:sp>
      <p:sp>
        <p:nvSpPr>
          <p:cNvPr id="10" name="Text 7"/>
          <p:cNvSpPr txBox="1"/>
          <p:nvPr/>
        </p:nvSpPr>
        <p:spPr>
          <a:xfrm>
            <a:off x="6035040" y="4663440"/>
            <a:ext cx="5577840" cy="365760"/>
          </a:xfrm>
          <a:prstGeom prst="rect">
            <a:avLst/>
          </a:prstGeom>
          <a:noFill/>
          <a:ln/>
        </p:spPr>
        <p:txBody>
          <a:bodyPr wrap="square" lIns="0" tIns="0" rIns="0" bIns="0" rtlCol="0" anchor="t"/>
          <a:lstStyle/>
          <a:p>
            <a:pPr indent="0" marL="0">
              <a:buNone/>
            </a:pPr>
            <a:r>
              <a:rPr lang="en-US" sz="1500" dirty="0">
                <a:solidFill>
                  <a:srgbClr val="5C6660"/>
                </a:solidFill>
              </a:rPr>
              <a:t>of distinct words occur only once: typical of low-resource text</a:t>
            </a:r>
            <a:endParaRPr lang="en-US" sz="1500" dirty="0"/>
          </a:p>
        </p:txBody>
      </p:sp>
      <p:sp>
        <p:nvSpPr>
          <p:cNvPr id="11" name="Caveat card"/>
          <p:cNvSpPr/>
          <p:nvPr/>
        </p:nvSpPr>
        <p:spPr>
          <a:xfrm>
            <a:off x="6035040" y="5212080"/>
            <a:ext cx="5577840" cy="914400"/>
          </a:xfrm>
          <a:prstGeom prst="roundRect">
            <a:avLst>
              <a:gd name="adj" fmla="val 12000"/>
            </a:avLst>
          </a:prstGeom>
          <a:solidFill>
            <a:schemeClr val="bg2"/>
          </a:solidFill>
          <a:ln/>
        </p:spPr>
      </p:sp>
      <p:sp>
        <p:nvSpPr>
          <p:cNvPr id="12" name="Text 9"/>
          <p:cNvSpPr txBox="1"/>
          <p:nvPr/>
        </p:nvSpPr>
        <p:spPr>
          <a:xfrm>
            <a:off x="6263640" y="5321808"/>
            <a:ext cx="5120640" cy="731520"/>
          </a:xfrm>
          <a:prstGeom prst="rect">
            <a:avLst/>
          </a:prstGeom>
          <a:noFill/>
          <a:ln/>
        </p:spPr>
        <p:txBody>
          <a:bodyPr wrap="square" lIns="0" tIns="0" rIns="0" bIns="0" rtlCol="0" anchor="ctr"/>
          <a:lstStyle/>
          <a:p>
            <a:pPr indent="0" marL="0">
              <a:buNone/>
            </a:pPr>
            <a:r>
              <a:rPr lang="en-US" sz="1400" b="1" dirty="0">
                <a:solidFill>
                  <a:schemeClr val="accent3"/>
                </a:solidFill>
              </a:rPr>
              <a:t>Caveat: </a:t>
            </a:r>
            <a:pPr indent="0" marL="0">
              <a:buNone/>
            </a:pPr>
            <a:r>
              <a:rPr lang="en-US" sz="1400" dirty="0">
                <a:solidFill>
                  <a:schemeClr val="tx1"/>
                </a:solidFill>
              </a:rPr>
              <a:t>18.9% of Kaggle lines name Yehowa, Yesu Kristo or Mawu, so the corpus leans religious. Neither licence is independently verified.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300" b="1" dirty="0">
                <a:solidFill>
                  <a:schemeClr val="accent1"/>
                </a:solidFill>
              </a:rPr>
              <a:t>SECTION B · WHY AN N-GRAM MODEL</a:t>
            </a:r>
            <a:endParaRPr lang="en-US" sz="13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t"/>
          <a:lstStyle/>
          <a:p>
            <a:pPr indent="0" marL="0">
              <a:buNone/>
            </a:pPr>
            <a:r>
              <a:rPr lang="en-US" sz="3200" b="1" dirty="0">
                <a:solidFill>
                  <a:schemeClr val="tx2"/>
                </a:solidFill>
              </a:rPr>
              <a:t>The right first model for Ewe, not proven the best</a:t>
            </a:r>
            <a:endParaRPr lang="en-US" sz="3200" dirty="0"/>
          </a:p>
        </p:txBody>
      </p:sp>
      <p:sp>
        <p:nvSpPr>
          <p:cNvPr id="4" name="Fits the data circle"/>
          <p:cNvSpPr/>
          <p:nvPr/>
        </p:nvSpPr>
        <p:spPr>
          <a:xfrm>
            <a:off x="548640" y="1783080"/>
            <a:ext cx="685800" cy="685800"/>
          </a:xfrm>
          <a:prstGeom prst="ellipse">
            <a:avLst/>
          </a:prstGeom>
          <a:solidFill>
            <a:schemeClr val="accent1"/>
          </a:solidFill>
          <a:ln/>
        </p:spPr>
      </p:sp>
      <p:pic>
        <p:nvPicPr>
          <p:cNvPr id="5" name="Fits the data icon" descr="preencoded.png">    </p:cNvPr>
          <p:cNvPicPr>
            <a:picLocks noChangeAspect="1"/>
          </p:cNvPicPr>
          <p:nvPr/>
        </p:nvPicPr>
        <p:blipFill>
          <a:blip r:embed="rId1"/>
          <a:stretch>
            <a:fillRect/>
          </a:stretch>
        </p:blipFill>
        <p:spPr>
          <a:xfrm>
            <a:off x="720090" y="1954530"/>
            <a:ext cx="342900" cy="342900"/>
          </a:xfrm>
          <a:prstGeom prst="rect">
            <a:avLst/>
          </a:prstGeom>
        </p:spPr>
      </p:pic>
      <p:sp>
        <p:nvSpPr>
          <p:cNvPr id="6" name="Text 3"/>
          <p:cNvSpPr txBox="1"/>
          <p:nvPr/>
        </p:nvSpPr>
        <p:spPr>
          <a:xfrm>
            <a:off x="1463040" y="1764792"/>
            <a:ext cx="4206240" cy="365760"/>
          </a:xfrm>
          <a:prstGeom prst="rect">
            <a:avLst/>
          </a:prstGeom>
          <a:noFill/>
          <a:ln/>
        </p:spPr>
        <p:txBody>
          <a:bodyPr wrap="square" lIns="0" tIns="0" rIns="0" bIns="0" rtlCol="0" anchor="t"/>
          <a:lstStyle/>
          <a:p>
            <a:pPr indent="0" marL="0">
              <a:buNone/>
            </a:pPr>
            <a:r>
              <a:rPr lang="en-US" sz="1800" b="1" dirty="0">
                <a:solidFill>
                  <a:schemeClr val="tx2"/>
                </a:solidFill>
              </a:rPr>
              <a:t>Fits the data</a:t>
            </a:r>
            <a:endParaRPr lang="en-US" sz="1800" dirty="0"/>
          </a:p>
        </p:txBody>
      </p:sp>
      <p:sp>
        <p:nvSpPr>
          <p:cNvPr id="7" name="Text 4"/>
          <p:cNvSpPr txBox="1"/>
          <p:nvPr/>
        </p:nvSpPr>
        <p:spPr>
          <a:xfrm>
            <a:off x="1463040" y="2130552"/>
            <a:ext cx="4206240" cy="685800"/>
          </a:xfrm>
          <a:prstGeom prst="rect">
            <a:avLst/>
          </a:prstGeom>
          <a:noFill/>
          <a:ln/>
        </p:spPr>
        <p:txBody>
          <a:bodyPr wrap="square" lIns="0" tIns="0" rIns="0" bIns="0" rtlCol="0" anchor="t"/>
          <a:lstStyle/>
          <a:p>
            <a:pPr indent="0" marL="0">
              <a:buNone/>
            </a:pPr>
            <a:r>
              <a:rPr lang="en-US" sz="1400" dirty="0">
                <a:solidFill>
                  <a:srgbClr val="5C6660"/>
                </a:solidFill>
              </a:rPr>
              <a:t>1.2M training tokens is far too few to learn grammar from random weights.</a:t>
            </a:r>
            <a:endParaRPr lang="en-US" sz="1400" dirty="0"/>
          </a:p>
        </p:txBody>
      </p:sp>
      <p:sp>
        <p:nvSpPr>
          <p:cNvPr id="8" name="Fast to iterate circle"/>
          <p:cNvSpPr/>
          <p:nvPr/>
        </p:nvSpPr>
        <p:spPr>
          <a:xfrm>
            <a:off x="548640" y="2971800"/>
            <a:ext cx="685800" cy="685800"/>
          </a:xfrm>
          <a:prstGeom prst="ellipse">
            <a:avLst/>
          </a:prstGeom>
          <a:solidFill>
            <a:schemeClr val="accent1"/>
          </a:solidFill>
          <a:ln/>
        </p:spPr>
      </p:sp>
      <p:pic>
        <p:nvPicPr>
          <p:cNvPr id="9" name="Fast to iterate icon" descr="preencoded.png">    </p:cNvPr>
          <p:cNvPicPr>
            <a:picLocks noChangeAspect="1"/>
          </p:cNvPicPr>
          <p:nvPr/>
        </p:nvPicPr>
        <p:blipFill>
          <a:blip r:embed="rId2"/>
          <a:stretch>
            <a:fillRect/>
          </a:stretch>
        </p:blipFill>
        <p:spPr>
          <a:xfrm>
            <a:off x="720090" y="3143250"/>
            <a:ext cx="342900" cy="342900"/>
          </a:xfrm>
          <a:prstGeom prst="rect">
            <a:avLst/>
          </a:prstGeom>
        </p:spPr>
      </p:pic>
      <p:sp>
        <p:nvSpPr>
          <p:cNvPr id="10" name="Text 6"/>
          <p:cNvSpPr txBox="1"/>
          <p:nvPr/>
        </p:nvSpPr>
        <p:spPr>
          <a:xfrm>
            <a:off x="1463040" y="2953512"/>
            <a:ext cx="4206240" cy="365760"/>
          </a:xfrm>
          <a:prstGeom prst="rect">
            <a:avLst/>
          </a:prstGeom>
          <a:noFill/>
          <a:ln/>
        </p:spPr>
        <p:txBody>
          <a:bodyPr wrap="square" lIns="0" tIns="0" rIns="0" bIns="0" rtlCol="0" anchor="t"/>
          <a:lstStyle/>
          <a:p>
            <a:pPr indent="0" marL="0">
              <a:buNone/>
            </a:pPr>
            <a:r>
              <a:rPr lang="en-US" sz="1800" b="1" dirty="0">
                <a:solidFill>
                  <a:schemeClr val="tx2"/>
                </a:solidFill>
              </a:rPr>
              <a:t>Fast to iterate</a:t>
            </a:r>
            <a:endParaRPr lang="en-US" sz="1800" dirty="0"/>
          </a:p>
        </p:txBody>
      </p:sp>
      <p:sp>
        <p:nvSpPr>
          <p:cNvPr id="11" name="Text 7"/>
          <p:cNvSpPr txBox="1"/>
          <p:nvPr/>
        </p:nvSpPr>
        <p:spPr>
          <a:xfrm>
            <a:off x="1463040" y="3319272"/>
            <a:ext cx="4206240" cy="685800"/>
          </a:xfrm>
          <a:prstGeom prst="rect">
            <a:avLst/>
          </a:prstGeom>
          <a:noFill/>
          <a:ln/>
        </p:spPr>
        <p:txBody>
          <a:bodyPr wrap="square" lIns="0" tIns="0" rIns="0" bIns="0" rtlCol="0" anchor="t"/>
          <a:lstStyle/>
          <a:p>
            <a:pPr indent="0" marL="0">
              <a:buNone/>
            </a:pPr>
            <a:r>
              <a:rPr lang="en-US" sz="1400" dirty="0">
                <a:solidFill>
                  <a:srgbClr val="5C6660"/>
                </a:solidFill>
              </a:rPr>
              <a:t>The whole pipeline runs in ~30 s on a laptop with no GPU, so every change can be tested.</a:t>
            </a:r>
            <a:endParaRPr lang="en-US" sz="1400" dirty="0"/>
          </a:p>
        </p:txBody>
      </p:sp>
      <p:sp>
        <p:nvSpPr>
          <p:cNvPr id="12" name="Transparent circle"/>
          <p:cNvSpPr/>
          <p:nvPr/>
        </p:nvSpPr>
        <p:spPr>
          <a:xfrm>
            <a:off x="548640" y="4160520"/>
            <a:ext cx="685800" cy="685800"/>
          </a:xfrm>
          <a:prstGeom prst="ellipse">
            <a:avLst/>
          </a:prstGeom>
          <a:solidFill>
            <a:schemeClr val="accent1"/>
          </a:solidFill>
          <a:ln/>
        </p:spPr>
      </p:sp>
      <p:pic>
        <p:nvPicPr>
          <p:cNvPr id="13" name="Transparent icon" descr="preencoded.png">    </p:cNvPr>
          <p:cNvPicPr>
            <a:picLocks noChangeAspect="1"/>
          </p:cNvPicPr>
          <p:nvPr/>
        </p:nvPicPr>
        <p:blipFill>
          <a:blip r:embed="rId3"/>
          <a:stretch>
            <a:fillRect/>
          </a:stretch>
        </p:blipFill>
        <p:spPr>
          <a:xfrm>
            <a:off x="720090" y="4331970"/>
            <a:ext cx="342900" cy="342900"/>
          </a:xfrm>
          <a:prstGeom prst="rect">
            <a:avLst/>
          </a:prstGeom>
        </p:spPr>
      </p:pic>
      <p:sp>
        <p:nvSpPr>
          <p:cNvPr id="14" name="Text 9"/>
          <p:cNvSpPr txBox="1"/>
          <p:nvPr/>
        </p:nvSpPr>
        <p:spPr>
          <a:xfrm>
            <a:off x="1463040" y="4142232"/>
            <a:ext cx="4206240" cy="365760"/>
          </a:xfrm>
          <a:prstGeom prst="rect">
            <a:avLst/>
          </a:prstGeom>
          <a:noFill/>
          <a:ln/>
        </p:spPr>
        <p:txBody>
          <a:bodyPr wrap="square" lIns="0" tIns="0" rIns="0" bIns="0" rtlCol="0" anchor="t"/>
          <a:lstStyle/>
          <a:p>
            <a:pPr indent="0" marL="0">
              <a:buNone/>
            </a:pPr>
            <a:r>
              <a:rPr lang="en-US" sz="1800" b="1" dirty="0">
                <a:solidFill>
                  <a:schemeClr val="tx2"/>
                </a:solidFill>
              </a:rPr>
              <a:t>Transparent</a:t>
            </a:r>
            <a:endParaRPr lang="en-US" sz="1800" dirty="0"/>
          </a:p>
        </p:txBody>
      </p:sp>
      <p:sp>
        <p:nvSpPr>
          <p:cNvPr id="15" name="Text 10"/>
          <p:cNvSpPr txBox="1"/>
          <p:nvPr/>
        </p:nvSpPr>
        <p:spPr>
          <a:xfrm>
            <a:off x="1463040" y="4507992"/>
            <a:ext cx="4206240" cy="685800"/>
          </a:xfrm>
          <a:prstGeom prst="rect">
            <a:avLst/>
          </a:prstGeom>
          <a:noFill/>
          <a:ln/>
        </p:spPr>
        <p:txBody>
          <a:bodyPr wrap="square" lIns="0" tIns="0" rIns="0" bIns="0" rtlCol="0" anchor="t"/>
          <a:lstStyle/>
          <a:p>
            <a:pPr indent="0" marL="0">
              <a:buNone/>
            </a:pPr>
            <a:r>
              <a:rPr lang="en-US" sz="1400" dirty="0">
                <a:solidFill>
                  <a:srgbClr val="5C6660"/>
                </a:solidFill>
              </a:rPr>
              <a:t>Every probability is a count ratio, so we could trace bugs to one line.</a:t>
            </a:r>
            <a:endParaRPr lang="en-US" sz="1400" dirty="0"/>
          </a:p>
        </p:txBody>
      </p:sp>
      <p:sp>
        <p:nvSpPr>
          <p:cNvPr id="16" name="Text 11"/>
          <p:cNvSpPr txBox="1"/>
          <p:nvPr/>
        </p:nvSpPr>
        <p:spPr>
          <a:xfrm>
            <a:off x="548640" y="5440680"/>
            <a:ext cx="5120640" cy="731520"/>
          </a:xfrm>
          <a:prstGeom prst="rect">
            <a:avLst/>
          </a:prstGeom>
          <a:noFill/>
          <a:ln/>
        </p:spPr>
        <p:txBody>
          <a:bodyPr wrap="square" lIns="0" tIns="0" rIns="0" bIns="0" rtlCol="0" anchor="t"/>
          <a:lstStyle/>
          <a:p>
            <a:pPr indent="0" marL="0">
              <a:buNone/>
            </a:pPr>
            <a:r>
              <a:rPr lang="en-US" sz="1400" b="1" dirty="0">
                <a:solidFill>
                  <a:schemeClr val="accent3"/>
                </a:solidFill>
              </a:rPr>
              <a:t>Limit: </a:t>
            </a:r>
            <a:pPr indent="0" marL="0">
              <a:buNone/>
            </a:pPr>
            <a:r>
              <a:rPr lang="en-US" sz="1400" dirty="0">
                <a:solidFill>
                  <a:schemeClr val="tx1"/>
                </a:solidFill>
              </a:rPr>
              <a:t>we trained no neural model. Fine-tuning a multilingual model that has seen Ewe could beat ours.</a:t>
            </a:r>
            <a:endParaRPr lang="en-US" sz="1400" dirty="0"/>
          </a:p>
        </p:txBody>
      </p:sp>
      <p:graphicFrame>
        <p:nvGraphicFramePr>
          <p:cNvPr id="17" name="Chart 0" descr=""/>
          <p:cNvGraphicFramePr/>
          <p:nvPr/>
        </p:nvGraphicFramePr>
        <p:xfrm>
          <a:off x="6035040" y="1645920"/>
          <a:ext cx="5577840" cy="4572000"/>
        </p:xfrm>
        <a:graphic xmlns:a="http://schemas.openxmlformats.org/drawingml/2006/main">
          <a:graphicData uri="http://schemas.openxmlformats.org/drawingml/2006/chart">
            <c:chart xmlns:c="http://schemas.openxmlformats.org/drawingml/2006/chart" r:id="rId4"/>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300" b="1" dirty="0">
                <a:solidFill>
                  <a:schemeClr val="accent1"/>
                </a:solidFill>
              </a:rPr>
              <a:t>SECTION B · TRAINING</a:t>
            </a:r>
            <a:endParaRPr lang="en-US" sz="13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t"/>
          <a:lstStyle/>
          <a:p>
            <a:pPr indent="0" marL="0">
              <a:buNone/>
            </a:pPr>
            <a:r>
              <a:rPr lang="en-US" sz="3200" b="1" dirty="0">
                <a:solidFill>
                  <a:schemeClr val="tx2"/>
                </a:solidFill>
              </a:rPr>
              <a:t>Training is counting; testing the model caught three bugs</a:t>
            </a:r>
            <a:endParaRPr lang="en-US" sz="3200" dirty="0"/>
          </a:p>
        </p:txBody>
      </p:sp>
      <p:sp>
        <p:nvSpPr>
          <p:cNvPr id="4" name="Formula card"/>
          <p:cNvSpPr/>
          <p:nvPr/>
        </p:nvSpPr>
        <p:spPr>
          <a:xfrm>
            <a:off x="548640" y="1600200"/>
            <a:ext cx="5760720" cy="777240"/>
          </a:xfrm>
          <a:prstGeom prst="roundRect">
            <a:avLst>
              <a:gd name="adj" fmla="val 14118"/>
            </a:avLst>
          </a:prstGeom>
          <a:solidFill>
            <a:schemeClr val="bg2"/>
          </a:solidFill>
          <a:ln/>
        </p:spPr>
      </p:sp>
      <p:sp>
        <p:nvSpPr>
          <p:cNvPr id="5" name="Text 3"/>
          <p:cNvSpPr txBox="1"/>
          <p:nvPr/>
        </p:nvSpPr>
        <p:spPr>
          <a:xfrm>
            <a:off x="777240" y="1600200"/>
            <a:ext cx="5394960" cy="777240"/>
          </a:xfrm>
          <a:prstGeom prst="rect">
            <a:avLst/>
          </a:prstGeom>
          <a:noFill/>
          <a:ln/>
        </p:spPr>
        <p:txBody>
          <a:bodyPr wrap="square" lIns="0" tIns="0" rIns="0" bIns="0" rtlCol="0" anchor="ctr"/>
          <a:lstStyle/>
          <a:p>
            <a:pPr indent="0" marL="0">
              <a:buNone/>
            </a:pPr>
            <a:r>
              <a:rPr lang="en-US" sz="1600" b="1" dirty="0">
                <a:solidFill>
                  <a:schemeClr val="accent1"/>
                </a:solidFill>
              </a:rPr>
              <a:t>Interpolation:  </a:t>
            </a:r>
            <a:pPr indent="0" marL="0">
              <a:buNone/>
            </a:pPr>
            <a:r>
              <a:rPr lang="en-US" sz="1600" i="1" dirty="0">
                <a:solidFill>
                  <a:schemeClr val="tx1"/>
                </a:solidFill>
              </a:rPr>
              <a:t>P</a:t>
            </a:r>
            <a:pPr indent="0" marL="0">
              <a:buNone/>
            </a:pPr>
            <a:r>
              <a:rPr lang="en-US" sz="1600" baseline="-40000" dirty="0">
                <a:solidFill>
                  <a:schemeClr val="tx1"/>
                </a:solidFill>
              </a:rPr>
              <a:t>n</a:t>
            </a:r>
            <a:pPr indent="0" marL="0">
              <a:buNone/>
            </a:pPr>
            <a:r>
              <a:rPr lang="en-US" sz="1600" i="1" dirty="0">
                <a:solidFill>
                  <a:schemeClr val="tx1"/>
                </a:solidFill>
              </a:rPr>
              <a:t>(w | h) = λ · C(h,w) / C(h) + (1 − λ) · P</a:t>
            </a:r>
            <a:pPr indent="0" marL="0">
              <a:buNone/>
            </a:pPr>
            <a:r>
              <a:rPr lang="en-US" sz="1600" baseline="-40000" dirty="0">
                <a:solidFill>
                  <a:schemeClr val="tx1"/>
                </a:solidFill>
              </a:rPr>
              <a:t>n−1</a:t>
            </a:r>
            <a:pPr indent="0" marL="0">
              <a:buNone/>
            </a:pPr>
            <a:r>
              <a:rPr lang="en-US" sz="1600" i="1" dirty="0">
                <a:solidFill>
                  <a:schemeClr val="tx1"/>
                </a:solidFill>
              </a:rPr>
              <a:t>(w | h′)</a:t>
            </a:r>
            <a:endParaRPr lang="en-US" sz="1600" dirty="0"/>
          </a:p>
        </p:txBody>
      </p:sp>
      <p:graphicFrame>
        <p:nvGraphicFramePr>
          <p:cNvPr id="6" name="Chart 0" descr=""/>
          <p:cNvGraphicFramePr/>
          <p:nvPr/>
        </p:nvGraphicFramePr>
        <p:xfrm>
          <a:off x="457200" y="2514600"/>
          <a:ext cx="5943600" cy="3703320"/>
        </p:xfrm>
        <a:graphic xmlns:a="http://schemas.openxmlformats.org/drawingml/2006/main">
          <a:graphicData uri="http://schemas.openxmlformats.org/drawingml/2006/chart">
            <c:chart xmlns:c="http://schemas.openxmlformats.org/drawingml/2006/chart" r:id="rId1"/>
          </a:graphicData>
        </a:graphic>
      </p:graphicFrame>
      <p:sp>
        <p:nvSpPr>
          <p:cNvPr id="7" name="Bug 1"/>
          <p:cNvSpPr/>
          <p:nvPr/>
        </p:nvSpPr>
        <p:spPr>
          <a:xfrm>
            <a:off x="6675120" y="1600200"/>
            <a:ext cx="4937760" cy="1371600"/>
          </a:xfrm>
          <a:prstGeom prst="roundRect">
            <a:avLst>
              <a:gd name="adj" fmla="val 8000"/>
            </a:avLst>
          </a:prstGeom>
          <a:solidFill>
            <a:schemeClr val="bg2"/>
          </a:solidFill>
          <a:ln/>
        </p:spPr>
      </p:sp>
      <p:sp>
        <p:nvSpPr>
          <p:cNvPr id="8" name="Bug 1 circle"/>
          <p:cNvSpPr/>
          <p:nvPr/>
        </p:nvSpPr>
        <p:spPr>
          <a:xfrm>
            <a:off x="6858000" y="1828800"/>
            <a:ext cx="548640" cy="548640"/>
          </a:xfrm>
          <a:prstGeom prst="ellipse">
            <a:avLst/>
          </a:prstGeom>
          <a:solidFill>
            <a:schemeClr val="accent3"/>
          </a:solidFill>
          <a:ln/>
        </p:spPr>
      </p:sp>
      <p:pic>
        <p:nvPicPr>
          <p:cNvPr id="9" name="Bug 1 icon" descr="preencoded.png">    </p:cNvPr>
          <p:cNvPicPr>
            <a:picLocks noChangeAspect="1"/>
          </p:cNvPicPr>
          <p:nvPr/>
        </p:nvPicPr>
        <p:blipFill>
          <a:blip r:embed="rId2"/>
          <a:stretch>
            <a:fillRect/>
          </a:stretch>
        </p:blipFill>
        <p:spPr>
          <a:xfrm>
            <a:off x="6995160" y="1965960"/>
            <a:ext cx="274320" cy="274320"/>
          </a:xfrm>
          <a:prstGeom prst="rect">
            <a:avLst/>
          </a:prstGeom>
        </p:spPr>
      </p:pic>
      <p:sp>
        <p:nvSpPr>
          <p:cNvPr id="10" name="Text 6"/>
          <p:cNvSpPr txBox="1"/>
          <p:nvPr/>
        </p:nvSpPr>
        <p:spPr>
          <a:xfrm>
            <a:off x="7589520" y="1783080"/>
            <a:ext cx="3886200" cy="320040"/>
          </a:xfrm>
          <a:prstGeom prst="rect">
            <a:avLst/>
          </a:prstGeom>
          <a:noFill/>
          <a:ln/>
        </p:spPr>
        <p:txBody>
          <a:bodyPr wrap="square" lIns="0" tIns="0" rIns="0" bIns="0" rtlCol="0" anchor="t"/>
          <a:lstStyle/>
          <a:p>
            <a:pPr indent="0" marL="0">
              <a:buNone/>
            </a:pPr>
            <a:r>
              <a:rPr lang="en-US" sz="1600" b="1" dirty="0">
                <a:solidFill>
                  <a:schemeClr val="tx2"/>
                </a:solidFill>
              </a:rPr>
              <a:t>Trigram 4,800 vs unigram 794</a:t>
            </a:r>
            <a:endParaRPr lang="en-US" sz="1600" dirty="0"/>
          </a:p>
        </p:txBody>
      </p:sp>
      <p:sp>
        <p:nvSpPr>
          <p:cNvPr id="11" name="Text 7"/>
          <p:cNvSpPr txBox="1"/>
          <p:nvPr/>
        </p:nvSpPr>
        <p:spPr>
          <a:xfrm>
            <a:off x="7589520" y="2130552"/>
            <a:ext cx="3886200" cy="777240"/>
          </a:xfrm>
          <a:prstGeom prst="rect">
            <a:avLst/>
          </a:prstGeom>
          <a:noFill/>
          <a:ln/>
        </p:spPr>
        <p:txBody>
          <a:bodyPr wrap="square" lIns="0" tIns="0" rIns="0" bIns="0" rtlCol="0" anchor="t"/>
          <a:lstStyle/>
          <a:p>
            <a:pPr indent="0" marL="0">
              <a:buNone/>
            </a:pPr>
            <a:r>
              <a:rPr lang="en-US" sz="1300" dirty="0">
                <a:solidFill>
                  <a:srgbClr val="5C6660"/>
                </a:solidFill>
              </a:rPr>
              <a:t>Naive add-k added ~4,000 pretend counts to every context. Interpolation fixed it (225).</a:t>
            </a:r>
            <a:endParaRPr lang="en-US" sz="1300" dirty="0"/>
          </a:p>
        </p:txBody>
      </p:sp>
      <p:sp>
        <p:nvSpPr>
          <p:cNvPr id="12" name="Bug 2"/>
          <p:cNvSpPr/>
          <p:nvPr/>
        </p:nvSpPr>
        <p:spPr>
          <a:xfrm>
            <a:off x="6675120" y="3154680"/>
            <a:ext cx="4937760" cy="1371600"/>
          </a:xfrm>
          <a:prstGeom prst="roundRect">
            <a:avLst>
              <a:gd name="adj" fmla="val 8000"/>
            </a:avLst>
          </a:prstGeom>
          <a:solidFill>
            <a:schemeClr val="bg2"/>
          </a:solidFill>
          <a:ln/>
        </p:spPr>
      </p:sp>
      <p:sp>
        <p:nvSpPr>
          <p:cNvPr id="13" name="Bug 2 circle"/>
          <p:cNvSpPr/>
          <p:nvPr/>
        </p:nvSpPr>
        <p:spPr>
          <a:xfrm>
            <a:off x="6858000" y="3383280"/>
            <a:ext cx="548640" cy="548640"/>
          </a:xfrm>
          <a:prstGeom prst="ellipse">
            <a:avLst/>
          </a:prstGeom>
          <a:solidFill>
            <a:schemeClr val="accent3"/>
          </a:solidFill>
          <a:ln/>
        </p:spPr>
      </p:sp>
      <p:pic>
        <p:nvPicPr>
          <p:cNvPr id="14" name="Bug 2 icon" descr="preencoded.png">    </p:cNvPr>
          <p:cNvPicPr>
            <a:picLocks noChangeAspect="1"/>
          </p:cNvPicPr>
          <p:nvPr/>
        </p:nvPicPr>
        <p:blipFill>
          <a:blip r:embed="rId3"/>
          <a:stretch>
            <a:fillRect/>
          </a:stretch>
        </p:blipFill>
        <p:spPr>
          <a:xfrm>
            <a:off x="6995160" y="3520440"/>
            <a:ext cx="274320" cy="274320"/>
          </a:xfrm>
          <a:prstGeom prst="rect">
            <a:avLst/>
          </a:prstGeom>
        </p:spPr>
      </p:pic>
      <p:sp>
        <p:nvSpPr>
          <p:cNvPr id="15" name="Text 10"/>
          <p:cNvSpPr txBox="1"/>
          <p:nvPr/>
        </p:nvSpPr>
        <p:spPr>
          <a:xfrm>
            <a:off x="7589520" y="3337560"/>
            <a:ext cx="3886200" cy="320040"/>
          </a:xfrm>
          <a:prstGeom prst="rect">
            <a:avLst/>
          </a:prstGeom>
          <a:noFill/>
          <a:ln/>
        </p:spPr>
        <p:txBody>
          <a:bodyPr wrap="square" lIns="0" tIns="0" rIns="0" bIns="0" rtlCol="0" anchor="t"/>
          <a:lstStyle/>
          <a:p>
            <a:pPr indent="0" marL="0">
              <a:buNone/>
            </a:pPr>
            <a:r>
              <a:rPr lang="en-US" sz="1600" b="1" dirty="0">
                <a:solidFill>
                  <a:schemeClr val="tx2"/>
                </a:solidFill>
              </a:rPr>
              <a:t>Nonsense beat real Ewe</a:t>
            </a:r>
            <a:endParaRPr lang="en-US" sz="1600" dirty="0"/>
          </a:p>
        </p:txBody>
      </p:sp>
      <p:sp>
        <p:nvSpPr>
          <p:cNvPr id="16" name="Text 11"/>
          <p:cNvSpPr txBox="1"/>
          <p:nvPr/>
        </p:nvSpPr>
        <p:spPr>
          <a:xfrm>
            <a:off x="7589520" y="3685032"/>
            <a:ext cx="3886200" cy="777240"/>
          </a:xfrm>
          <a:prstGeom prst="rect">
            <a:avLst/>
          </a:prstGeom>
          <a:noFill/>
          <a:ln/>
        </p:spPr>
        <p:txBody>
          <a:bodyPr wrap="square" lIns="0" tIns="0" rIns="0" bIns="0" rtlCol="0" anchor="t"/>
          <a:lstStyle/>
          <a:p>
            <a:pPr indent="0" marL="0">
              <a:buNone/>
            </a:pPr>
            <a:r>
              <a:rPr lang="en-US" sz="1300" dirty="0">
                <a:solidFill>
                  <a:srgbClr val="5C6660"/>
                </a:solidFill>
              </a:rPr>
              <a:t>Mapping every once-seen word to &lt;UNK&gt; made "&lt;UNK&gt; &lt;UNK&gt; &lt;UNK&gt;" common. Caught by scoring gibberish by hand.</a:t>
            </a:r>
            <a:endParaRPr lang="en-US" sz="1300" dirty="0"/>
          </a:p>
        </p:txBody>
      </p:sp>
      <p:sp>
        <p:nvSpPr>
          <p:cNvPr id="17" name="Bug 3"/>
          <p:cNvSpPr/>
          <p:nvPr/>
        </p:nvSpPr>
        <p:spPr>
          <a:xfrm>
            <a:off x="6675120" y="4709160"/>
            <a:ext cx="4937760" cy="1371600"/>
          </a:xfrm>
          <a:prstGeom prst="roundRect">
            <a:avLst>
              <a:gd name="adj" fmla="val 8000"/>
            </a:avLst>
          </a:prstGeom>
          <a:solidFill>
            <a:schemeClr val="bg2"/>
          </a:solidFill>
          <a:ln/>
        </p:spPr>
      </p:sp>
      <p:sp>
        <p:nvSpPr>
          <p:cNvPr id="18" name="Bug 3 circle"/>
          <p:cNvSpPr/>
          <p:nvPr/>
        </p:nvSpPr>
        <p:spPr>
          <a:xfrm>
            <a:off x="6858000" y="4937760"/>
            <a:ext cx="548640" cy="548640"/>
          </a:xfrm>
          <a:prstGeom prst="ellipse">
            <a:avLst/>
          </a:prstGeom>
          <a:solidFill>
            <a:schemeClr val="accent3"/>
          </a:solidFill>
          <a:ln/>
        </p:spPr>
      </p:sp>
      <p:pic>
        <p:nvPicPr>
          <p:cNvPr id="19" name="Bug 3 icon" descr="preencoded.png">    </p:cNvPr>
          <p:cNvPicPr>
            <a:picLocks noChangeAspect="1"/>
          </p:cNvPicPr>
          <p:nvPr/>
        </p:nvPicPr>
        <p:blipFill>
          <a:blip r:embed="rId4"/>
          <a:stretch>
            <a:fillRect/>
          </a:stretch>
        </p:blipFill>
        <p:spPr>
          <a:xfrm>
            <a:off x="6995160" y="5074920"/>
            <a:ext cx="274320" cy="274320"/>
          </a:xfrm>
          <a:prstGeom prst="rect">
            <a:avLst/>
          </a:prstGeom>
        </p:spPr>
      </p:pic>
      <p:sp>
        <p:nvSpPr>
          <p:cNvPr id="20" name="Text 14"/>
          <p:cNvSpPr txBox="1"/>
          <p:nvPr/>
        </p:nvSpPr>
        <p:spPr>
          <a:xfrm>
            <a:off x="7589520" y="4892040"/>
            <a:ext cx="3886200" cy="320040"/>
          </a:xfrm>
          <a:prstGeom prst="rect">
            <a:avLst/>
          </a:prstGeom>
          <a:noFill/>
          <a:ln/>
        </p:spPr>
        <p:txBody>
          <a:bodyPr wrap="square" lIns="0" tIns="0" rIns="0" bIns="0" rtlCol="0" anchor="t"/>
          <a:lstStyle/>
          <a:p>
            <a:pPr indent="0" marL="0">
              <a:buNone/>
            </a:pPr>
            <a:r>
              <a:rPr lang="en-US" sz="1600" b="1" dirty="0">
                <a:solidFill>
                  <a:schemeClr val="tx2"/>
                </a:solidFill>
              </a:rPr>
              <a:t>Best λ on the grid's edge</a:t>
            </a:r>
            <a:endParaRPr lang="en-US" sz="1600" dirty="0"/>
          </a:p>
        </p:txBody>
      </p:sp>
      <p:sp>
        <p:nvSpPr>
          <p:cNvPr id="21" name="Text 15"/>
          <p:cNvSpPr txBox="1"/>
          <p:nvPr/>
        </p:nvSpPr>
        <p:spPr>
          <a:xfrm>
            <a:off x="7589520" y="5239512"/>
            <a:ext cx="3886200" cy="777240"/>
          </a:xfrm>
          <a:prstGeom prst="rect">
            <a:avLst/>
          </a:prstGeom>
          <a:noFill/>
          <a:ln/>
        </p:spPr>
        <p:txBody>
          <a:bodyPr wrap="square" lIns="0" tIns="0" rIns="0" bIns="0" rtlCol="0" anchor="t"/>
          <a:lstStyle/>
          <a:p>
            <a:pPr indent="0" marL="0">
              <a:buNone/>
            </a:pPr>
            <a:r>
              <a:rPr lang="en-US" sz="1300" dirty="0">
                <a:solidFill>
                  <a:srgbClr val="5C6660"/>
                </a:solidFill>
              </a:rPr>
              <a:t>Tuned weights sat at 0.5, the edge of the search range. A wider grid changed the 4- and 5-gram verdict.</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300" b="1" dirty="0">
                <a:solidFill>
                  <a:schemeClr val="accent1"/>
                </a:solidFill>
              </a:rPr>
              <a:t>SECTION B · RESULTS</a:t>
            </a:r>
            <a:endParaRPr lang="en-US" sz="13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t"/>
          <a:lstStyle/>
          <a:p>
            <a:pPr indent="0" marL="0">
              <a:buNone/>
            </a:pPr>
            <a:r>
              <a:rPr lang="en-US" sz="3200" b="1" dirty="0">
                <a:solidFill>
                  <a:schemeClr val="tx2"/>
                </a:solidFill>
              </a:rPr>
              <a:t>Context helps sharply, then plateaus: trigram is best</a:t>
            </a:r>
            <a:endParaRPr lang="en-US" sz="3200" dirty="0"/>
          </a:p>
        </p:txBody>
      </p:sp>
      <p:graphicFrame>
        <p:nvGraphicFramePr>
          <p:cNvPr id="4" name="Chart 0" descr=""/>
          <p:cNvGraphicFramePr/>
          <p:nvPr/>
        </p:nvGraphicFramePr>
        <p:xfrm>
          <a:off x="457200" y="1600200"/>
          <a:ext cx="6400800" cy="46177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223760" y="1691640"/>
            <a:ext cx="438912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4.3×</a:t>
            </a:r>
            <a:endParaRPr lang="en-US" sz="3000" dirty="0"/>
          </a:p>
        </p:txBody>
      </p:sp>
      <p:sp>
        <p:nvSpPr>
          <p:cNvPr id="6" name="Text 3"/>
          <p:cNvSpPr txBox="1"/>
          <p:nvPr/>
        </p:nvSpPr>
        <p:spPr>
          <a:xfrm>
            <a:off x="7223760" y="2240280"/>
            <a:ext cx="4389120" cy="411480"/>
          </a:xfrm>
          <a:prstGeom prst="rect">
            <a:avLst/>
          </a:prstGeom>
          <a:noFill/>
          <a:ln/>
        </p:spPr>
        <p:txBody>
          <a:bodyPr wrap="square" lIns="0" tIns="0" rIns="0" bIns="0" rtlCol="0" anchor="t"/>
          <a:lstStyle/>
          <a:p>
            <a:pPr indent="0" marL="0">
              <a:buNone/>
            </a:pPr>
            <a:r>
              <a:rPr lang="en-US" sz="1400" dirty="0">
                <a:solidFill>
                  <a:srgbClr val="5C6660"/>
                </a:solidFill>
              </a:rPr>
              <a:t>lower perplexity, unigram → trigram (595.9 → 139.2)</a:t>
            </a:r>
            <a:endParaRPr lang="en-US" sz="1400" dirty="0"/>
          </a:p>
        </p:txBody>
      </p:sp>
      <p:sp>
        <p:nvSpPr>
          <p:cNvPr id="7" name="Text 4"/>
          <p:cNvSpPr txBox="1"/>
          <p:nvPr/>
        </p:nvSpPr>
        <p:spPr>
          <a:xfrm>
            <a:off x="7223760" y="2788920"/>
            <a:ext cx="438912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140.9 vs 139.2</a:t>
            </a:r>
            <a:endParaRPr lang="en-US" sz="3000" dirty="0"/>
          </a:p>
        </p:txBody>
      </p:sp>
      <p:sp>
        <p:nvSpPr>
          <p:cNvPr id="8" name="Text 5"/>
          <p:cNvSpPr txBox="1"/>
          <p:nvPr/>
        </p:nvSpPr>
        <p:spPr>
          <a:xfrm>
            <a:off x="7223760" y="3337560"/>
            <a:ext cx="4389120" cy="411480"/>
          </a:xfrm>
          <a:prstGeom prst="rect">
            <a:avLst/>
          </a:prstGeom>
          <a:noFill/>
          <a:ln/>
        </p:spPr>
        <p:txBody>
          <a:bodyPr wrap="square" lIns="0" tIns="0" rIns="0" bIns="0" rtlCol="0" anchor="t"/>
          <a:lstStyle/>
          <a:p>
            <a:pPr indent="0" marL="0">
              <a:buNone/>
            </a:pPr>
            <a:r>
              <a:rPr lang="en-US" sz="1400" dirty="0">
                <a:solidFill>
                  <a:srgbClr val="5C6660"/>
                </a:solidFill>
              </a:rPr>
              <a:t>dev vs test: tuning did not overfit the dev set</a:t>
            </a:r>
            <a:endParaRPr lang="en-US" sz="1400" dirty="0"/>
          </a:p>
        </p:txBody>
      </p:sp>
      <p:sp>
        <p:nvSpPr>
          <p:cNvPr id="9" name="Text 6"/>
          <p:cNvSpPr txBox="1"/>
          <p:nvPr/>
        </p:nvSpPr>
        <p:spPr>
          <a:xfrm>
            <a:off x="7223760" y="3886200"/>
            <a:ext cx="438912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 1.6</a:t>
            </a:r>
            <a:endParaRPr lang="en-US" sz="3000" dirty="0"/>
          </a:p>
        </p:txBody>
      </p:sp>
      <p:sp>
        <p:nvSpPr>
          <p:cNvPr id="10" name="Text 7"/>
          <p:cNvSpPr txBox="1"/>
          <p:nvPr/>
        </p:nvSpPr>
        <p:spPr>
          <a:xfrm>
            <a:off x="7223760" y="4434840"/>
            <a:ext cx="4389120" cy="411480"/>
          </a:xfrm>
          <a:prstGeom prst="rect">
            <a:avLst/>
          </a:prstGeom>
          <a:noFill/>
          <a:ln/>
        </p:spPr>
        <p:txBody>
          <a:bodyPr wrap="square" lIns="0" tIns="0" rIns="0" bIns="0" rtlCol="0" anchor="t"/>
          <a:lstStyle/>
          <a:p>
            <a:pPr indent="0" marL="0">
              <a:buNone/>
            </a:pPr>
            <a:r>
              <a:rPr lang="en-US" sz="1400" dirty="0">
                <a:solidFill>
                  <a:srgbClr val="5C6660"/>
                </a:solidFill>
              </a:rPr>
              <a:t>five-seed spread (139.0 ± 1.6), so gaps under ~2% are noise</a:t>
            </a:r>
            <a:endParaRPr lang="en-US" sz="1400" dirty="0"/>
          </a:p>
        </p:txBody>
      </p:sp>
      <p:sp>
        <p:nvSpPr>
          <p:cNvPr id="11" name="Grid note card"/>
          <p:cNvSpPr/>
          <p:nvPr/>
        </p:nvSpPr>
        <p:spPr>
          <a:xfrm>
            <a:off x="7223760" y="5029200"/>
            <a:ext cx="4389120" cy="1188720"/>
          </a:xfrm>
          <a:prstGeom prst="roundRect">
            <a:avLst>
              <a:gd name="adj" fmla="val 9231"/>
            </a:avLst>
          </a:prstGeom>
          <a:solidFill>
            <a:schemeClr val="bg2"/>
          </a:solidFill>
          <a:ln/>
        </p:spPr>
      </p:sp>
      <p:sp>
        <p:nvSpPr>
          <p:cNvPr id="12" name="Text 9"/>
          <p:cNvSpPr txBox="1"/>
          <p:nvPr/>
        </p:nvSpPr>
        <p:spPr>
          <a:xfrm>
            <a:off x="7406640" y="5120640"/>
            <a:ext cx="4023360" cy="1005840"/>
          </a:xfrm>
          <a:prstGeom prst="rect">
            <a:avLst/>
          </a:prstGeom>
          <a:noFill/>
          <a:ln/>
        </p:spPr>
        <p:txBody>
          <a:bodyPr wrap="square" lIns="0" tIns="0" rIns="0" bIns="0" rtlCol="0" anchor="ctr"/>
          <a:lstStyle/>
          <a:p>
            <a:pPr indent="0" marL="0">
              <a:buNone/>
            </a:pPr>
            <a:r>
              <a:rPr lang="en-US" sz="1400" b="1" dirty="0">
                <a:solidFill>
                  <a:schemeClr val="tx2"/>
                </a:solidFill>
              </a:rPr>
              <a:t>Wider λ grid (dev): </a:t>
            </a:r>
            <a:pPr indent="0" marL="0">
              <a:buNone/>
            </a:pPr>
            <a:r>
              <a:rPr lang="en-US" sz="1400" dirty="0">
                <a:solidFill>
                  <a:schemeClr val="tx1"/>
                </a:solidFill>
              </a:rPr>
              <a:t>4-gram 132.0 and 5-gram 131.9 vs trigram 134.5. Longer context barely helps, rather than hurting.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300" b="1" dirty="0">
                <a:solidFill>
                  <a:schemeClr val="accent1"/>
                </a:solidFill>
              </a:rPr>
              <a:t>SECTION C · DATA AND APPROACH</a:t>
            </a:r>
            <a:endParaRPr lang="en-US" sz="13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t"/>
          <a:lstStyle/>
          <a:p>
            <a:pPr indent="0" marL="0">
              <a:buNone/>
            </a:pPr>
            <a:r>
              <a:rPr lang="en-US" sz="3200" b="1" dirty="0">
                <a:solidFill>
                  <a:schemeClr val="tx2"/>
                </a:solidFill>
              </a:rPr>
              <a:t>Adapt Qwen3-4B to health text in two LoRA stages</a:t>
            </a:r>
            <a:endParaRPr lang="en-US" sz="3200" dirty="0"/>
          </a:p>
        </p:txBody>
      </p:sp>
      <p:sp>
        <p:nvSpPr>
          <p:cNvPr id="4" name="A · Base model"/>
          <p:cNvSpPr/>
          <p:nvPr/>
        </p:nvSpPr>
        <p:spPr>
          <a:xfrm>
            <a:off x="548640" y="1645920"/>
            <a:ext cx="3474720" cy="2788920"/>
          </a:xfrm>
          <a:prstGeom prst="roundRect">
            <a:avLst>
              <a:gd name="adj" fmla="val 3934"/>
            </a:avLst>
          </a:prstGeom>
          <a:solidFill>
            <a:schemeClr val="bg2"/>
          </a:solidFill>
          <a:ln/>
        </p:spPr>
      </p:sp>
      <p:sp>
        <p:nvSpPr>
          <p:cNvPr id="5" name="A · Base model circle"/>
          <p:cNvSpPr/>
          <p:nvPr/>
        </p:nvSpPr>
        <p:spPr>
          <a:xfrm>
            <a:off x="822960" y="1874520"/>
            <a:ext cx="685800" cy="685800"/>
          </a:xfrm>
          <a:prstGeom prst="ellipse">
            <a:avLst/>
          </a:prstGeom>
          <a:solidFill>
            <a:schemeClr val="accent4"/>
          </a:solidFill>
          <a:ln/>
        </p:spPr>
      </p:sp>
      <p:pic>
        <p:nvPicPr>
          <p:cNvPr id="6" name="A · Base model icon" descr="preencoded.png">    </p:cNvPr>
          <p:cNvPicPr>
            <a:picLocks noChangeAspect="1"/>
          </p:cNvPicPr>
          <p:nvPr/>
        </p:nvPicPr>
        <p:blipFill>
          <a:blip r:embed="rId1"/>
          <a:stretch>
            <a:fillRect/>
          </a:stretch>
        </p:blipFill>
        <p:spPr>
          <a:xfrm>
            <a:off x="994410" y="2045970"/>
            <a:ext cx="342900" cy="342900"/>
          </a:xfrm>
          <a:prstGeom prst="rect">
            <a:avLst/>
          </a:prstGeom>
        </p:spPr>
      </p:pic>
      <p:sp>
        <p:nvSpPr>
          <p:cNvPr id="7" name="Text 4"/>
          <p:cNvSpPr txBox="1"/>
          <p:nvPr/>
        </p:nvSpPr>
        <p:spPr>
          <a:xfrm>
            <a:off x="822960" y="2697480"/>
            <a:ext cx="3017520" cy="365760"/>
          </a:xfrm>
          <a:prstGeom prst="rect">
            <a:avLst/>
          </a:prstGeom>
          <a:noFill/>
          <a:ln/>
        </p:spPr>
        <p:txBody>
          <a:bodyPr wrap="square" lIns="0" tIns="0" rIns="0" bIns="0" rtlCol="0" anchor="t"/>
          <a:lstStyle/>
          <a:p>
            <a:pPr indent="0" marL="0">
              <a:buNone/>
            </a:pPr>
            <a:r>
              <a:rPr lang="en-US" sz="1700" b="1" dirty="0">
                <a:solidFill>
                  <a:schemeClr val="tx2"/>
                </a:solidFill>
              </a:rPr>
              <a:t>A · Base model</a:t>
            </a:r>
            <a:endParaRPr lang="en-US" sz="1700" dirty="0"/>
          </a:p>
        </p:txBody>
      </p:sp>
      <p:sp>
        <p:nvSpPr>
          <p:cNvPr id="8" name="Text 5"/>
          <p:cNvSpPr txBox="1"/>
          <p:nvPr/>
        </p:nvSpPr>
        <p:spPr>
          <a:xfrm>
            <a:off x="822960" y="3108960"/>
            <a:ext cx="3017520" cy="1234440"/>
          </a:xfrm>
          <a:prstGeom prst="rect">
            <a:avLst/>
          </a:prstGeom>
          <a:noFill/>
          <a:ln/>
        </p:spPr>
        <p:txBody>
          <a:bodyPr wrap="square" lIns="0" tIns="0" rIns="0" bIns="0" rtlCol="0" anchor="t"/>
          <a:lstStyle/>
          <a:p>
            <a:pPr indent="0" marL="0">
              <a:buNone/>
            </a:pPr>
            <a:r>
              <a:rPr lang="en-US" sz="1400" dirty="0">
                <a:solidFill>
                  <a:srgbClr val="5C6660"/>
                </a:solidFill>
              </a:rPr>
              <a:t>Qwen3-4B-Base, untouched. The baseline: exactly recoverable by not loading an adapter.</a:t>
            </a:r>
            <a:endParaRPr lang="en-US" sz="1400" dirty="0"/>
          </a:p>
        </p:txBody>
      </p:sp>
      <p:sp>
        <p:nvSpPr>
          <p:cNvPr id="9" name="Arrow 1"/>
          <p:cNvSpPr/>
          <p:nvPr/>
        </p:nvSpPr>
        <p:spPr>
          <a:xfrm>
            <a:off x="4069080" y="2880360"/>
            <a:ext cx="274320" cy="320040"/>
          </a:xfrm>
          <a:prstGeom prst="rightArrow">
            <a:avLst/>
          </a:prstGeom>
          <a:solidFill>
            <a:schemeClr val="accent6"/>
          </a:solidFill>
          <a:ln/>
        </p:spPr>
      </p:sp>
      <p:sp>
        <p:nvSpPr>
          <p:cNvPr id="10" name="B · Stage 1: reading"/>
          <p:cNvSpPr/>
          <p:nvPr/>
        </p:nvSpPr>
        <p:spPr>
          <a:xfrm>
            <a:off x="4389120" y="1645920"/>
            <a:ext cx="3474720" cy="2788920"/>
          </a:xfrm>
          <a:prstGeom prst="roundRect">
            <a:avLst>
              <a:gd name="adj" fmla="val 3934"/>
            </a:avLst>
          </a:prstGeom>
          <a:solidFill>
            <a:schemeClr val="bg2"/>
          </a:solidFill>
          <a:ln/>
        </p:spPr>
      </p:sp>
      <p:sp>
        <p:nvSpPr>
          <p:cNvPr id="11" name="B · Stage 1: reading circle"/>
          <p:cNvSpPr/>
          <p:nvPr/>
        </p:nvSpPr>
        <p:spPr>
          <a:xfrm>
            <a:off x="4663440" y="1874520"/>
            <a:ext cx="685800" cy="685800"/>
          </a:xfrm>
          <a:prstGeom prst="ellipse">
            <a:avLst/>
          </a:prstGeom>
          <a:solidFill>
            <a:schemeClr val="accent1"/>
          </a:solidFill>
          <a:ln/>
        </p:spPr>
      </p:sp>
      <p:pic>
        <p:nvPicPr>
          <p:cNvPr id="12" name="B · Stage 1: reading icon" descr="preencoded.png">    </p:cNvPr>
          <p:cNvPicPr>
            <a:picLocks noChangeAspect="1"/>
          </p:cNvPicPr>
          <p:nvPr/>
        </p:nvPicPr>
        <p:blipFill>
          <a:blip r:embed="rId2"/>
          <a:stretch>
            <a:fillRect/>
          </a:stretch>
        </p:blipFill>
        <p:spPr>
          <a:xfrm>
            <a:off x="4834890" y="2045970"/>
            <a:ext cx="342900" cy="342900"/>
          </a:xfrm>
          <a:prstGeom prst="rect">
            <a:avLst/>
          </a:prstGeom>
        </p:spPr>
      </p:pic>
      <p:sp>
        <p:nvSpPr>
          <p:cNvPr id="13" name="Text 9"/>
          <p:cNvSpPr txBox="1"/>
          <p:nvPr/>
        </p:nvSpPr>
        <p:spPr>
          <a:xfrm>
            <a:off x="4663440" y="2697480"/>
            <a:ext cx="3017520" cy="365760"/>
          </a:xfrm>
          <a:prstGeom prst="rect">
            <a:avLst/>
          </a:prstGeom>
          <a:noFill/>
          <a:ln/>
        </p:spPr>
        <p:txBody>
          <a:bodyPr wrap="square" lIns="0" tIns="0" rIns="0" bIns="0" rtlCol="0" anchor="t"/>
          <a:lstStyle/>
          <a:p>
            <a:pPr indent="0" marL="0">
              <a:buNone/>
            </a:pPr>
            <a:r>
              <a:rPr lang="en-US" sz="1700" b="1" dirty="0">
                <a:solidFill>
                  <a:schemeClr val="tx2"/>
                </a:solidFill>
              </a:rPr>
              <a:t>B · Stage 1: reading</a:t>
            </a:r>
            <a:endParaRPr lang="en-US" sz="1700" dirty="0"/>
          </a:p>
        </p:txBody>
      </p:sp>
      <p:sp>
        <p:nvSpPr>
          <p:cNvPr id="14" name="Text 10"/>
          <p:cNvSpPr txBox="1"/>
          <p:nvPr/>
        </p:nvSpPr>
        <p:spPr>
          <a:xfrm>
            <a:off x="4663440" y="3108960"/>
            <a:ext cx="3017520" cy="1234440"/>
          </a:xfrm>
          <a:prstGeom prst="rect">
            <a:avLst/>
          </a:prstGeom>
          <a:noFill/>
          <a:ln/>
        </p:spPr>
        <p:txBody>
          <a:bodyPr wrap="square" lIns="0" tIns="0" rIns="0" bIns="0" rtlCol="0" anchor="t"/>
          <a:lstStyle/>
          <a:p>
            <a:pPr indent="0" marL="0">
              <a:buNone/>
            </a:pPr>
            <a:r>
              <a:rPr lang="en-US" sz="1400" dirty="0">
                <a:solidFill>
                  <a:srgbClr val="5C6660"/>
                </a:solidFill>
              </a:rPr>
              <a:t>16.1M words: PubMed Central 15.4M, MedlinePlus 0.3M, Ghana treatment guidelines 0.45M (×3).</a:t>
            </a:r>
            <a:endParaRPr lang="en-US" sz="1400" dirty="0"/>
          </a:p>
        </p:txBody>
      </p:sp>
      <p:sp>
        <p:nvSpPr>
          <p:cNvPr id="15" name="Arrow 2"/>
          <p:cNvSpPr/>
          <p:nvPr/>
        </p:nvSpPr>
        <p:spPr>
          <a:xfrm>
            <a:off x="7909560" y="2880360"/>
            <a:ext cx="274320" cy="320040"/>
          </a:xfrm>
          <a:prstGeom prst="rightArrow">
            <a:avLst/>
          </a:prstGeom>
          <a:solidFill>
            <a:schemeClr val="accent6"/>
          </a:solidFill>
          <a:ln/>
        </p:spPr>
      </p:sp>
      <p:sp>
        <p:nvSpPr>
          <p:cNvPr id="16" name="C · Stage 2: practice"/>
          <p:cNvSpPr/>
          <p:nvPr/>
        </p:nvSpPr>
        <p:spPr>
          <a:xfrm>
            <a:off x="8229600" y="1645920"/>
            <a:ext cx="3474720" cy="2788920"/>
          </a:xfrm>
          <a:prstGeom prst="roundRect">
            <a:avLst>
              <a:gd name="adj" fmla="val 3934"/>
            </a:avLst>
          </a:prstGeom>
          <a:solidFill>
            <a:schemeClr val="bg2"/>
          </a:solidFill>
          <a:ln/>
        </p:spPr>
      </p:sp>
      <p:sp>
        <p:nvSpPr>
          <p:cNvPr id="17" name="C · Stage 2: practice circle"/>
          <p:cNvSpPr/>
          <p:nvPr/>
        </p:nvSpPr>
        <p:spPr>
          <a:xfrm>
            <a:off x="8503920" y="1874520"/>
            <a:ext cx="685800" cy="685800"/>
          </a:xfrm>
          <a:prstGeom prst="ellipse">
            <a:avLst/>
          </a:prstGeom>
          <a:solidFill>
            <a:schemeClr val="accent2"/>
          </a:solidFill>
          <a:ln/>
        </p:spPr>
      </p:sp>
      <p:pic>
        <p:nvPicPr>
          <p:cNvPr id="18" name="C · Stage 2: practice icon" descr="preencoded.png">    </p:cNvPr>
          <p:cNvPicPr>
            <a:picLocks noChangeAspect="1"/>
          </p:cNvPicPr>
          <p:nvPr/>
        </p:nvPicPr>
        <p:blipFill>
          <a:blip r:embed="rId3"/>
          <a:stretch>
            <a:fillRect/>
          </a:stretch>
        </p:blipFill>
        <p:spPr>
          <a:xfrm>
            <a:off x="8675370" y="2045970"/>
            <a:ext cx="342900" cy="342900"/>
          </a:xfrm>
          <a:prstGeom prst="rect">
            <a:avLst/>
          </a:prstGeom>
        </p:spPr>
      </p:pic>
      <p:sp>
        <p:nvSpPr>
          <p:cNvPr id="19" name="Text 14"/>
          <p:cNvSpPr txBox="1"/>
          <p:nvPr/>
        </p:nvSpPr>
        <p:spPr>
          <a:xfrm>
            <a:off x="8503920" y="2697480"/>
            <a:ext cx="3017520" cy="365760"/>
          </a:xfrm>
          <a:prstGeom prst="rect">
            <a:avLst/>
          </a:prstGeom>
          <a:noFill/>
          <a:ln/>
        </p:spPr>
        <p:txBody>
          <a:bodyPr wrap="square" lIns="0" tIns="0" rIns="0" bIns="0" rtlCol="0" anchor="t"/>
          <a:lstStyle/>
          <a:p>
            <a:pPr indent="0" marL="0">
              <a:buNone/>
            </a:pPr>
            <a:r>
              <a:rPr lang="en-US" sz="1700" b="1" dirty="0">
                <a:solidFill>
                  <a:schemeClr val="tx2"/>
                </a:solidFill>
              </a:rPr>
              <a:t>C · Stage 2: practice</a:t>
            </a:r>
            <a:endParaRPr lang="en-US" sz="1700" dirty="0"/>
          </a:p>
        </p:txBody>
      </p:sp>
      <p:sp>
        <p:nvSpPr>
          <p:cNvPr id="20" name="Text 15"/>
          <p:cNvSpPr txBox="1"/>
          <p:nvPr/>
        </p:nvSpPr>
        <p:spPr>
          <a:xfrm>
            <a:off x="8503920" y="3108960"/>
            <a:ext cx="3017520" cy="1234440"/>
          </a:xfrm>
          <a:prstGeom prst="rect">
            <a:avLst/>
          </a:prstGeom>
          <a:noFill/>
          <a:ln/>
        </p:spPr>
        <p:txBody>
          <a:bodyPr wrap="square" lIns="0" tIns="0" rIns="0" bIns="0" rtlCol="0" anchor="t"/>
          <a:lstStyle/>
          <a:p>
            <a:pPr indent="0" marL="0">
              <a:buNone/>
            </a:pPr>
            <a:r>
              <a:rPr lang="en-US" sz="1400" dirty="0">
                <a:solidFill>
                  <a:srgbClr val="5C6660"/>
                </a:solidFill>
              </a:rPr>
              <a:t>3,000 health Q&amp;A pairs in a fixed chat format; loss counted on answer tokens only.</a:t>
            </a:r>
            <a:endParaRPr lang="en-US" sz="1400" dirty="0"/>
          </a:p>
        </p:txBody>
      </p:sp>
      <p:sp>
        <p:nvSpPr>
          <p:cNvPr id="21" name="Text 16"/>
          <p:cNvSpPr txBox="1"/>
          <p:nvPr/>
        </p:nvSpPr>
        <p:spPr>
          <a:xfrm>
            <a:off x="548640" y="4663440"/>
            <a:ext cx="5486400" cy="365760"/>
          </a:xfrm>
          <a:prstGeom prst="rect">
            <a:avLst/>
          </a:prstGeom>
          <a:noFill/>
          <a:ln/>
        </p:spPr>
        <p:txBody>
          <a:bodyPr wrap="square" lIns="0" tIns="0" rIns="0" bIns="0" rtlCol="0" anchor="t"/>
          <a:lstStyle/>
          <a:p>
            <a:pPr indent="0" marL="0">
              <a:buNone/>
            </a:pPr>
            <a:r>
              <a:rPr lang="en-US" sz="1600" b="1" dirty="0">
                <a:solidFill>
                  <a:schemeClr val="tx2"/>
                </a:solidFill>
              </a:rPr>
              <a:t>Why not the alternatives?</a:t>
            </a:r>
            <a:endParaRPr lang="en-US" sz="1600" dirty="0"/>
          </a:p>
        </p:txBody>
      </p:sp>
      <p:sp>
        <p:nvSpPr>
          <p:cNvPr id="22" name="Text 17"/>
          <p:cNvSpPr txBox="1"/>
          <p:nvPr/>
        </p:nvSpPr>
        <p:spPr>
          <a:xfrm>
            <a:off x="548640" y="5120640"/>
            <a:ext cx="2651760" cy="320040"/>
          </a:xfrm>
          <a:prstGeom prst="rect">
            <a:avLst/>
          </a:prstGeom>
          <a:noFill/>
          <a:ln/>
        </p:spPr>
        <p:txBody>
          <a:bodyPr wrap="square" lIns="0" tIns="0" rIns="0" bIns="0" rtlCol="0" anchor="t"/>
          <a:lstStyle/>
          <a:p>
            <a:pPr indent="0" marL="0">
              <a:buNone/>
            </a:pPr>
            <a:r>
              <a:rPr lang="en-US" sz="1400" b="1" dirty="0">
                <a:solidFill>
                  <a:schemeClr val="accent3"/>
                </a:solidFill>
              </a:rPr>
              <a:t>Prompting</a:t>
            </a:r>
            <a:endParaRPr lang="en-US" sz="1400" dirty="0"/>
          </a:p>
        </p:txBody>
      </p:sp>
      <p:sp>
        <p:nvSpPr>
          <p:cNvPr id="23" name="Text 18"/>
          <p:cNvSpPr txBox="1"/>
          <p:nvPr/>
        </p:nvSpPr>
        <p:spPr>
          <a:xfrm>
            <a:off x="548640" y="5440680"/>
            <a:ext cx="2651760" cy="548640"/>
          </a:xfrm>
          <a:prstGeom prst="rect">
            <a:avLst/>
          </a:prstGeom>
          <a:noFill/>
          <a:ln/>
        </p:spPr>
        <p:txBody>
          <a:bodyPr wrap="square" lIns="0" tIns="0" rIns="0" bIns="0" rtlCol="0" anchor="t"/>
          <a:lstStyle/>
          <a:p>
            <a:pPr indent="0" marL="0">
              <a:buNone/>
            </a:pPr>
            <a:r>
              <a:rPr lang="en-US" sz="1300" dirty="0">
                <a:solidFill>
                  <a:srgbClr val="5C6660"/>
                </a:solidFill>
              </a:rPr>
              <a:t>changes nothing; kept as baseline</a:t>
            </a:r>
            <a:endParaRPr lang="en-US" sz="1300" dirty="0"/>
          </a:p>
        </p:txBody>
      </p:sp>
      <p:sp>
        <p:nvSpPr>
          <p:cNvPr id="24" name="Text 19"/>
          <p:cNvSpPr txBox="1"/>
          <p:nvPr/>
        </p:nvSpPr>
        <p:spPr>
          <a:xfrm>
            <a:off x="3383280" y="5120640"/>
            <a:ext cx="2651760" cy="320040"/>
          </a:xfrm>
          <a:prstGeom prst="rect">
            <a:avLst/>
          </a:prstGeom>
          <a:noFill/>
          <a:ln/>
        </p:spPr>
        <p:txBody>
          <a:bodyPr wrap="square" lIns="0" tIns="0" rIns="0" bIns="0" rtlCol="0" anchor="t"/>
          <a:lstStyle/>
          <a:p>
            <a:pPr indent="0" marL="0">
              <a:buNone/>
            </a:pPr>
            <a:r>
              <a:rPr lang="en-US" sz="1400" b="1" dirty="0">
                <a:solidFill>
                  <a:schemeClr val="accent3"/>
                </a:solidFill>
              </a:rPr>
              <a:t>Retrieval (RAG)</a:t>
            </a:r>
            <a:endParaRPr lang="en-US" sz="1400" dirty="0"/>
          </a:p>
        </p:txBody>
      </p:sp>
      <p:sp>
        <p:nvSpPr>
          <p:cNvPr id="25" name="Text 20"/>
          <p:cNvSpPr txBox="1"/>
          <p:nvPr/>
        </p:nvSpPr>
        <p:spPr>
          <a:xfrm>
            <a:off x="3383280" y="5440680"/>
            <a:ext cx="2651760" cy="548640"/>
          </a:xfrm>
          <a:prstGeom prst="rect">
            <a:avLst/>
          </a:prstGeom>
          <a:noFill/>
          <a:ln/>
        </p:spPr>
        <p:txBody>
          <a:bodyPr wrap="square" lIns="0" tIns="0" rIns="0" bIns="0" rtlCol="0" anchor="t"/>
          <a:lstStyle/>
          <a:p>
            <a:pPr indent="0" marL="0">
              <a:buNone/>
            </a:pPr>
            <a:r>
              <a:rPr lang="en-US" sz="1300" dirty="0">
                <a:solidFill>
                  <a:srgbClr val="5C6660"/>
                </a:solidFill>
              </a:rPr>
              <a:t>model untouched; not compared</a:t>
            </a:r>
            <a:endParaRPr lang="en-US" sz="1300" dirty="0"/>
          </a:p>
        </p:txBody>
      </p:sp>
      <p:sp>
        <p:nvSpPr>
          <p:cNvPr id="26" name="Text 21"/>
          <p:cNvSpPr txBox="1"/>
          <p:nvPr/>
        </p:nvSpPr>
        <p:spPr>
          <a:xfrm>
            <a:off x="6217920" y="5120640"/>
            <a:ext cx="2651760" cy="320040"/>
          </a:xfrm>
          <a:prstGeom prst="rect">
            <a:avLst/>
          </a:prstGeom>
          <a:noFill/>
          <a:ln/>
        </p:spPr>
        <p:txBody>
          <a:bodyPr wrap="square" lIns="0" tIns="0" rIns="0" bIns="0" rtlCol="0" anchor="t"/>
          <a:lstStyle/>
          <a:p>
            <a:pPr indent="0" marL="0">
              <a:buNone/>
            </a:pPr>
            <a:r>
              <a:rPr lang="en-US" sz="1400" b="1" dirty="0">
                <a:solidFill>
                  <a:schemeClr val="accent3"/>
                </a:solidFill>
              </a:rPr>
              <a:t>From scratch</a:t>
            </a:r>
            <a:endParaRPr lang="en-US" sz="1400" dirty="0"/>
          </a:p>
        </p:txBody>
      </p:sp>
      <p:sp>
        <p:nvSpPr>
          <p:cNvPr id="27" name="Text 22"/>
          <p:cNvSpPr txBox="1"/>
          <p:nvPr/>
        </p:nvSpPr>
        <p:spPr>
          <a:xfrm>
            <a:off x="6217920" y="5440680"/>
            <a:ext cx="2651760" cy="548640"/>
          </a:xfrm>
          <a:prstGeom prst="rect">
            <a:avLst/>
          </a:prstGeom>
          <a:noFill/>
          <a:ln/>
        </p:spPr>
        <p:txBody>
          <a:bodyPr wrap="square" lIns="0" tIns="0" rIns="0" bIns="0" rtlCol="0" anchor="t"/>
          <a:lstStyle/>
          <a:p>
            <a:pPr indent="0" marL="0">
              <a:buNone/>
            </a:pPr>
            <a:r>
              <a:rPr lang="en-US" sz="1300" dirty="0">
                <a:solidFill>
                  <a:srgbClr val="5C6660"/>
                </a:solidFill>
              </a:rPr>
              <a:t>16M words ≪ trillions needed</a:t>
            </a:r>
            <a:endParaRPr lang="en-US" sz="1300" dirty="0"/>
          </a:p>
        </p:txBody>
      </p:sp>
      <p:sp>
        <p:nvSpPr>
          <p:cNvPr id="28" name="Text 23"/>
          <p:cNvSpPr txBox="1"/>
          <p:nvPr/>
        </p:nvSpPr>
        <p:spPr>
          <a:xfrm>
            <a:off x="9052560" y="5120640"/>
            <a:ext cx="2651760" cy="320040"/>
          </a:xfrm>
          <a:prstGeom prst="rect">
            <a:avLst/>
          </a:prstGeom>
          <a:noFill/>
          <a:ln/>
        </p:spPr>
        <p:txBody>
          <a:bodyPr wrap="square" lIns="0" tIns="0" rIns="0" bIns="0" rtlCol="0" anchor="t"/>
          <a:lstStyle/>
          <a:p>
            <a:pPr indent="0" marL="0">
              <a:buNone/>
            </a:pPr>
            <a:r>
              <a:rPr lang="en-US" sz="1400" b="1" dirty="0">
                <a:solidFill>
                  <a:schemeClr val="accent3"/>
                </a:solidFill>
              </a:rPr>
              <a:t>Full fine-tune</a:t>
            </a:r>
            <a:endParaRPr lang="en-US" sz="1400" dirty="0"/>
          </a:p>
        </p:txBody>
      </p:sp>
      <p:sp>
        <p:nvSpPr>
          <p:cNvPr id="29" name="Text 24"/>
          <p:cNvSpPr txBox="1"/>
          <p:nvPr/>
        </p:nvSpPr>
        <p:spPr>
          <a:xfrm>
            <a:off x="9052560" y="5440680"/>
            <a:ext cx="2651760" cy="548640"/>
          </a:xfrm>
          <a:prstGeom prst="rect">
            <a:avLst/>
          </a:prstGeom>
          <a:noFill/>
          <a:ln/>
        </p:spPr>
        <p:txBody>
          <a:bodyPr wrap="square" lIns="0" tIns="0" rIns="0" bIns="0" rtlCol="0" anchor="t"/>
          <a:lstStyle/>
          <a:p>
            <a:pPr indent="0" marL="0">
              <a:buNone/>
            </a:pPr>
            <a:r>
              <a:rPr lang="en-US" sz="1300" dirty="0">
                <a:solidFill>
                  <a:srgbClr val="5C6660"/>
                </a:solidFill>
              </a:rPr>
              <a:t>won't fit a 16 GB GPU</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300" b="1" dirty="0">
                <a:solidFill>
                  <a:schemeClr val="accent1"/>
                </a:solidFill>
              </a:rPr>
              <a:t>SECTION C · TRAINING</a:t>
            </a:r>
            <a:endParaRPr lang="en-US" sz="13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t"/>
          <a:lstStyle/>
          <a:p>
            <a:pPr indent="0" marL="0">
              <a:buNone/>
            </a:pPr>
            <a:r>
              <a:rPr lang="en-US" sz="3200" b="1" dirty="0">
                <a:solidFill>
                  <a:schemeClr val="tx2"/>
                </a:solidFill>
              </a:rPr>
              <a:t>Validation loss fell in both stages on a single T4 GPU</a:t>
            </a:r>
            <a:endParaRPr lang="en-US" sz="3200" dirty="0"/>
          </a:p>
        </p:txBody>
      </p:sp>
      <p:sp>
        <p:nvSpPr>
          <p:cNvPr id="4" name="Stage 1 · reading"/>
          <p:cNvSpPr/>
          <p:nvPr/>
        </p:nvSpPr>
        <p:spPr>
          <a:xfrm>
            <a:off x="548640" y="1645920"/>
            <a:ext cx="5486400" cy="2011680"/>
          </a:xfrm>
          <a:prstGeom prst="roundRect">
            <a:avLst>
              <a:gd name="adj" fmla="val 5455"/>
            </a:avLst>
          </a:prstGeom>
          <a:solidFill>
            <a:schemeClr val="bg2"/>
          </a:solidFill>
          <a:ln/>
        </p:spPr>
      </p:sp>
      <p:sp>
        <p:nvSpPr>
          <p:cNvPr id="5" name="Text 3"/>
          <p:cNvSpPr txBox="1"/>
          <p:nvPr/>
        </p:nvSpPr>
        <p:spPr>
          <a:xfrm>
            <a:off x="822960" y="1828800"/>
            <a:ext cx="4937760" cy="365760"/>
          </a:xfrm>
          <a:prstGeom prst="rect">
            <a:avLst/>
          </a:prstGeom>
          <a:noFill/>
          <a:ln/>
        </p:spPr>
        <p:txBody>
          <a:bodyPr wrap="square" lIns="0" tIns="0" rIns="0" bIns="0" rtlCol="0" anchor="t"/>
          <a:lstStyle/>
          <a:p>
            <a:pPr indent="0" marL="0">
              <a:buNone/>
            </a:pPr>
            <a:r>
              <a:rPr lang="en-US" sz="1700" b="1" dirty="0">
                <a:solidFill>
                  <a:schemeClr val="tx2"/>
                </a:solidFill>
              </a:rPr>
              <a:t>Stage 1 · reading</a:t>
            </a:r>
            <a:endParaRPr lang="en-US" sz="1700" dirty="0"/>
          </a:p>
        </p:txBody>
      </p:sp>
      <p:sp>
        <p:nvSpPr>
          <p:cNvPr id="6" name="Text 4"/>
          <p:cNvSpPr txBox="1"/>
          <p:nvPr/>
        </p:nvSpPr>
        <p:spPr>
          <a:xfrm>
            <a:off x="822960" y="2240280"/>
            <a:ext cx="2377440" cy="82296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−2.1%</a:t>
            </a:r>
            <a:endParaRPr lang="en-US" sz="4800" dirty="0"/>
          </a:p>
        </p:txBody>
      </p:sp>
      <p:sp>
        <p:nvSpPr>
          <p:cNvPr id="7" name="Text 5"/>
          <p:cNvSpPr txBox="1"/>
          <p:nvPr/>
        </p:nvSpPr>
        <p:spPr>
          <a:xfrm>
            <a:off x="3200400" y="2377440"/>
            <a:ext cx="2651760" cy="411480"/>
          </a:xfrm>
          <a:prstGeom prst="rect">
            <a:avLst/>
          </a:prstGeom>
          <a:noFill/>
          <a:ln/>
        </p:spPr>
        <p:txBody>
          <a:bodyPr wrap="square" lIns="0" tIns="0" rIns="0" bIns="0" rtlCol="0" anchor="t"/>
          <a:lstStyle/>
          <a:p>
            <a:pPr indent="0" marL="0">
              <a:buNone/>
            </a:pPr>
            <a:r>
              <a:rPr lang="en-US" sz="1800" dirty="0">
                <a:solidFill>
                  <a:schemeClr val="tx2"/>
                </a:solidFill>
              </a:rPr>
              <a:t>1.3376 → 1.3092</a:t>
            </a:r>
            <a:endParaRPr lang="en-US" sz="1800" dirty="0"/>
          </a:p>
        </p:txBody>
      </p:sp>
      <p:sp>
        <p:nvSpPr>
          <p:cNvPr id="8" name="Text 6"/>
          <p:cNvSpPr txBox="1"/>
          <p:nvPr/>
        </p:nvSpPr>
        <p:spPr>
          <a:xfrm>
            <a:off x="822960" y="3108960"/>
            <a:ext cx="4937760" cy="365760"/>
          </a:xfrm>
          <a:prstGeom prst="rect">
            <a:avLst/>
          </a:prstGeom>
          <a:noFill/>
          <a:ln/>
        </p:spPr>
        <p:txBody>
          <a:bodyPr wrap="square" lIns="0" tIns="0" rIns="0" bIns="0" rtlCol="0" anchor="t"/>
          <a:lstStyle/>
          <a:p>
            <a:pPr indent="0" marL="0">
              <a:buNone/>
            </a:pPr>
            <a:r>
              <a:rPr lang="en-US" sz="1300" dirty="0">
                <a:solidFill>
                  <a:srgbClr val="5C6660"/>
                </a:solidFill>
              </a:rPr>
              <a:t>next-token loss, 89 steps, 2.92M tokens</a:t>
            </a:r>
            <a:endParaRPr lang="en-US" sz="1300" dirty="0"/>
          </a:p>
        </p:txBody>
      </p:sp>
      <p:sp>
        <p:nvSpPr>
          <p:cNvPr id="9" name="Stage 2 · practice"/>
          <p:cNvSpPr/>
          <p:nvPr/>
        </p:nvSpPr>
        <p:spPr>
          <a:xfrm>
            <a:off x="548640" y="3931920"/>
            <a:ext cx="5486400" cy="2011680"/>
          </a:xfrm>
          <a:prstGeom prst="roundRect">
            <a:avLst>
              <a:gd name="adj" fmla="val 5455"/>
            </a:avLst>
          </a:prstGeom>
          <a:solidFill>
            <a:schemeClr val="bg2"/>
          </a:solidFill>
          <a:ln/>
        </p:spPr>
      </p:sp>
      <p:sp>
        <p:nvSpPr>
          <p:cNvPr id="10" name="Text 8"/>
          <p:cNvSpPr txBox="1"/>
          <p:nvPr/>
        </p:nvSpPr>
        <p:spPr>
          <a:xfrm>
            <a:off x="822960" y="4114800"/>
            <a:ext cx="4937760" cy="365760"/>
          </a:xfrm>
          <a:prstGeom prst="rect">
            <a:avLst/>
          </a:prstGeom>
          <a:noFill/>
          <a:ln/>
        </p:spPr>
        <p:txBody>
          <a:bodyPr wrap="square" lIns="0" tIns="0" rIns="0" bIns="0" rtlCol="0" anchor="t"/>
          <a:lstStyle/>
          <a:p>
            <a:pPr indent="0" marL="0">
              <a:buNone/>
            </a:pPr>
            <a:r>
              <a:rPr lang="en-US" sz="1700" b="1" dirty="0">
                <a:solidFill>
                  <a:schemeClr val="tx2"/>
                </a:solidFill>
              </a:rPr>
              <a:t>Stage 2 · practice</a:t>
            </a:r>
            <a:endParaRPr lang="en-US" sz="1700" dirty="0"/>
          </a:p>
        </p:txBody>
      </p:sp>
      <p:sp>
        <p:nvSpPr>
          <p:cNvPr id="11" name="Text 9"/>
          <p:cNvSpPr txBox="1"/>
          <p:nvPr/>
        </p:nvSpPr>
        <p:spPr>
          <a:xfrm>
            <a:off x="822960" y="4526280"/>
            <a:ext cx="2377440" cy="82296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−21.5%</a:t>
            </a:r>
            <a:endParaRPr lang="en-US" sz="4800" dirty="0"/>
          </a:p>
        </p:txBody>
      </p:sp>
      <p:sp>
        <p:nvSpPr>
          <p:cNvPr id="12" name="Text 10"/>
          <p:cNvSpPr txBox="1"/>
          <p:nvPr/>
        </p:nvSpPr>
        <p:spPr>
          <a:xfrm>
            <a:off x="3200400" y="4663440"/>
            <a:ext cx="2651760" cy="411480"/>
          </a:xfrm>
          <a:prstGeom prst="rect">
            <a:avLst/>
          </a:prstGeom>
          <a:noFill/>
          <a:ln/>
        </p:spPr>
        <p:txBody>
          <a:bodyPr wrap="square" lIns="0" tIns="0" rIns="0" bIns="0" rtlCol="0" anchor="t"/>
          <a:lstStyle/>
          <a:p>
            <a:pPr indent="0" marL="0">
              <a:buNone/>
            </a:pPr>
            <a:r>
              <a:rPr lang="en-US" sz="1800" dirty="0">
                <a:solidFill>
                  <a:schemeClr val="tx2"/>
                </a:solidFill>
              </a:rPr>
              <a:t>1.4794 → 1.1607</a:t>
            </a:r>
            <a:endParaRPr lang="en-US" sz="1800" dirty="0"/>
          </a:p>
        </p:txBody>
      </p:sp>
      <p:sp>
        <p:nvSpPr>
          <p:cNvPr id="13" name="Text 11"/>
          <p:cNvSpPr txBox="1"/>
          <p:nvPr/>
        </p:nvSpPr>
        <p:spPr>
          <a:xfrm>
            <a:off x="822960" y="5394960"/>
            <a:ext cx="4937760" cy="365760"/>
          </a:xfrm>
          <a:prstGeom prst="rect">
            <a:avLst/>
          </a:prstGeom>
          <a:noFill/>
          <a:ln/>
        </p:spPr>
        <p:txBody>
          <a:bodyPr wrap="square" lIns="0" tIns="0" rIns="0" bIns="0" rtlCol="0" anchor="t"/>
          <a:lstStyle/>
          <a:p>
            <a:pPr indent="0" marL="0">
              <a:buNone/>
            </a:pPr>
            <a:r>
              <a:rPr lang="en-US" sz="1300" dirty="0">
                <a:solidFill>
                  <a:srgbClr val="5C6660"/>
                </a:solidFill>
              </a:rPr>
              <a:t>loss on answer tokens only</a:t>
            </a:r>
            <a:endParaRPr lang="en-US" sz="1300" dirty="0"/>
          </a:p>
        </p:txBody>
      </p:sp>
      <p:sp>
        <p:nvSpPr>
          <p:cNvPr id="14" name="Text 12"/>
          <p:cNvSpPr txBox="1"/>
          <p:nvPr/>
        </p:nvSpPr>
        <p:spPr>
          <a:xfrm>
            <a:off x="6492240" y="1645920"/>
            <a:ext cx="5120640" cy="365760"/>
          </a:xfrm>
          <a:prstGeom prst="rect">
            <a:avLst/>
          </a:prstGeom>
          <a:noFill/>
          <a:ln/>
        </p:spPr>
        <p:txBody>
          <a:bodyPr wrap="square" lIns="0" tIns="0" rIns="0" bIns="0" rtlCol="0" anchor="t"/>
          <a:lstStyle/>
          <a:p>
            <a:pPr indent="0" marL="0">
              <a:buNone/>
            </a:pPr>
            <a:r>
              <a:rPr lang="en-US" sz="1800" b="1" dirty="0">
                <a:solidFill>
                  <a:schemeClr val="tx2"/>
                </a:solidFill>
              </a:rPr>
              <a:t>What we learned the hard way</a:t>
            </a:r>
            <a:endParaRPr lang="en-US" sz="1800" dirty="0"/>
          </a:p>
        </p:txBody>
      </p:sp>
      <p:sp>
        <p:nvSpPr>
          <p:cNvPr id="15" name="Silent empty data circle"/>
          <p:cNvSpPr/>
          <p:nvPr/>
        </p:nvSpPr>
        <p:spPr>
          <a:xfrm>
            <a:off x="6492240" y="2194560"/>
            <a:ext cx="548640" cy="548640"/>
          </a:xfrm>
          <a:prstGeom prst="ellipse">
            <a:avLst/>
          </a:prstGeom>
          <a:solidFill>
            <a:schemeClr val="accent3"/>
          </a:solidFill>
          <a:ln/>
        </p:spPr>
      </p:sp>
      <p:pic>
        <p:nvPicPr>
          <p:cNvPr id="16" name="Silent empty data icon" descr="preencoded.png">    </p:cNvPr>
          <p:cNvPicPr>
            <a:picLocks noChangeAspect="1"/>
          </p:cNvPicPr>
          <p:nvPr/>
        </p:nvPicPr>
        <p:blipFill>
          <a:blip r:embed="rId1"/>
          <a:stretch>
            <a:fillRect/>
          </a:stretch>
        </p:blipFill>
        <p:spPr>
          <a:xfrm>
            <a:off x="6629400" y="2331720"/>
            <a:ext cx="274320" cy="274320"/>
          </a:xfrm>
          <a:prstGeom prst="rect">
            <a:avLst/>
          </a:prstGeom>
        </p:spPr>
      </p:pic>
      <p:sp>
        <p:nvSpPr>
          <p:cNvPr id="17" name="Text 14"/>
          <p:cNvSpPr txBox="1"/>
          <p:nvPr/>
        </p:nvSpPr>
        <p:spPr>
          <a:xfrm>
            <a:off x="7269480" y="2167128"/>
            <a:ext cx="4343400" cy="320040"/>
          </a:xfrm>
          <a:prstGeom prst="rect">
            <a:avLst/>
          </a:prstGeom>
          <a:noFill/>
          <a:ln/>
        </p:spPr>
        <p:txBody>
          <a:bodyPr wrap="square" lIns="0" tIns="0" rIns="0" bIns="0" rtlCol="0" anchor="t"/>
          <a:lstStyle/>
          <a:p>
            <a:pPr indent="0" marL="0">
              <a:buNone/>
            </a:pPr>
            <a:r>
              <a:rPr lang="en-US" sz="1500" b="1" dirty="0">
                <a:solidFill>
                  <a:schemeClr val="tx2"/>
                </a:solidFill>
              </a:rPr>
              <a:t>Silent empty data</a:t>
            </a:r>
            <a:endParaRPr lang="en-US" sz="1500" dirty="0"/>
          </a:p>
        </p:txBody>
      </p:sp>
      <p:sp>
        <p:nvSpPr>
          <p:cNvPr id="18" name="Text 15"/>
          <p:cNvSpPr txBox="1"/>
          <p:nvPr/>
        </p:nvSpPr>
        <p:spPr>
          <a:xfrm>
            <a:off x="7269480" y="2487168"/>
            <a:ext cx="4343400" cy="868680"/>
          </a:xfrm>
          <a:prstGeom prst="rect">
            <a:avLst/>
          </a:prstGeom>
          <a:noFill/>
          <a:ln/>
        </p:spPr>
        <p:txBody>
          <a:bodyPr wrap="square" lIns="0" tIns="0" rIns="0" bIns="0" rtlCol="0" anchor="t"/>
          <a:lstStyle/>
          <a:p>
            <a:pPr indent="0" marL="0">
              <a:buNone/>
            </a:pPr>
            <a:r>
              <a:rPr lang="en-US" sz="1300" dirty="0">
                <a:solidFill>
                  <a:srgbClr val="5C6660"/>
                </a:solidFill>
              </a:rPr>
              <a:t>Ghana's server sent an HTML bot page, not the PDF. A full run trained with no Ghana text and no error. The collector now fails loudly.</a:t>
            </a:r>
            <a:endParaRPr lang="en-US" sz="1300" dirty="0"/>
          </a:p>
        </p:txBody>
      </p:sp>
      <p:sp>
        <p:nvSpPr>
          <p:cNvPr id="19" name="The GPU check lied circle"/>
          <p:cNvSpPr/>
          <p:nvPr/>
        </p:nvSpPr>
        <p:spPr>
          <a:xfrm>
            <a:off x="6492240" y="3520440"/>
            <a:ext cx="548640" cy="548640"/>
          </a:xfrm>
          <a:prstGeom prst="ellipse">
            <a:avLst/>
          </a:prstGeom>
          <a:solidFill>
            <a:schemeClr val="accent3"/>
          </a:solidFill>
          <a:ln/>
        </p:spPr>
      </p:sp>
      <p:pic>
        <p:nvPicPr>
          <p:cNvPr id="20" name="The GPU check lied icon" descr="preencoded.png">    </p:cNvPr>
          <p:cNvPicPr>
            <a:picLocks noChangeAspect="1"/>
          </p:cNvPicPr>
          <p:nvPr/>
        </p:nvPicPr>
        <p:blipFill>
          <a:blip r:embed="rId2"/>
          <a:stretch>
            <a:fillRect/>
          </a:stretch>
        </p:blipFill>
        <p:spPr>
          <a:xfrm>
            <a:off x="6629400" y="3657600"/>
            <a:ext cx="274320" cy="274320"/>
          </a:xfrm>
          <a:prstGeom prst="rect">
            <a:avLst/>
          </a:prstGeom>
        </p:spPr>
      </p:pic>
      <p:sp>
        <p:nvSpPr>
          <p:cNvPr id="21" name="Text 17"/>
          <p:cNvSpPr txBox="1"/>
          <p:nvPr/>
        </p:nvSpPr>
        <p:spPr>
          <a:xfrm>
            <a:off x="7269480" y="3493008"/>
            <a:ext cx="4343400" cy="320040"/>
          </a:xfrm>
          <a:prstGeom prst="rect">
            <a:avLst/>
          </a:prstGeom>
          <a:noFill/>
          <a:ln/>
        </p:spPr>
        <p:txBody>
          <a:bodyPr wrap="square" lIns="0" tIns="0" rIns="0" bIns="0" rtlCol="0" anchor="t"/>
          <a:lstStyle/>
          <a:p>
            <a:pPr indent="0" marL="0">
              <a:buNone/>
            </a:pPr>
            <a:r>
              <a:rPr lang="en-US" sz="1500" b="1" dirty="0">
                <a:solidFill>
                  <a:schemeClr val="tx2"/>
                </a:solidFill>
              </a:rPr>
              <a:t>The GPU check lied</a:t>
            </a:r>
            <a:endParaRPr lang="en-US" sz="1500" dirty="0"/>
          </a:p>
        </p:txBody>
      </p:sp>
      <p:sp>
        <p:nvSpPr>
          <p:cNvPr id="22" name="Text 18"/>
          <p:cNvSpPr txBox="1"/>
          <p:nvPr/>
        </p:nvSpPr>
        <p:spPr>
          <a:xfrm>
            <a:off x="7269480" y="3813048"/>
            <a:ext cx="4343400" cy="868680"/>
          </a:xfrm>
          <a:prstGeom prst="rect">
            <a:avLst/>
          </a:prstGeom>
          <a:noFill/>
          <a:ln/>
        </p:spPr>
        <p:txBody>
          <a:bodyPr wrap="square" lIns="0" tIns="0" rIns="0" bIns="0" rtlCol="0" anchor="t"/>
          <a:lstStyle/>
          <a:p>
            <a:pPr indent="0" marL="0">
              <a:buNone/>
            </a:pPr>
            <a:r>
              <a:rPr lang="en-US" sz="1300" dirty="0">
                <a:solidFill>
                  <a:srgbClr val="5C6660"/>
                </a:solidFill>
              </a:rPr>
              <a:t>PyTorch reports bf16 support on a T4, but it is only emulated. Check compute capability instead.</a:t>
            </a:r>
            <a:endParaRPr lang="en-US" sz="1300" dirty="0"/>
          </a:p>
        </p:txBody>
      </p:sp>
      <p:sp>
        <p:nvSpPr>
          <p:cNvPr id="23" name="Checkpoints saved us circle"/>
          <p:cNvSpPr/>
          <p:nvPr/>
        </p:nvSpPr>
        <p:spPr>
          <a:xfrm>
            <a:off x="6492240" y="4846320"/>
            <a:ext cx="548640" cy="548640"/>
          </a:xfrm>
          <a:prstGeom prst="ellipse">
            <a:avLst/>
          </a:prstGeom>
          <a:solidFill>
            <a:schemeClr val="accent3"/>
          </a:solidFill>
          <a:ln/>
        </p:spPr>
      </p:sp>
      <p:pic>
        <p:nvPicPr>
          <p:cNvPr id="24" name="Checkpoints saved us icon" descr="preencoded.png">    </p:cNvPr>
          <p:cNvPicPr>
            <a:picLocks noChangeAspect="1"/>
          </p:cNvPicPr>
          <p:nvPr/>
        </p:nvPicPr>
        <p:blipFill>
          <a:blip r:embed="rId3"/>
          <a:stretch>
            <a:fillRect/>
          </a:stretch>
        </p:blipFill>
        <p:spPr>
          <a:xfrm>
            <a:off x="6629400" y="4983480"/>
            <a:ext cx="274320" cy="274320"/>
          </a:xfrm>
          <a:prstGeom prst="rect">
            <a:avLst/>
          </a:prstGeom>
        </p:spPr>
      </p:pic>
      <p:sp>
        <p:nvSpPr>
          <p:cNvPr id="25" name="Text 20"/>
          <p:cNvSpPr txBox="1"/>
          <p:nvPr/>
        </p:nvSpPr>
        <p:spPr>
          <a:xfrm>
            <a:off x="7269480" y="4818888"/>
            <a:ext cx="4343400" cy="320040"/>
          </a:xfrm>
          <a:prstGeom prst="rect">
            <a:avLst/>
          </a:prstGeom>
          <a:noFill/>
          <a:ln/>
        </p:spPr>
        <p:txBody>
          <a:bodyPr wrap="square" lIns="0" tIns="0" rIns="0" bIns="0" rtlCol="0" anchor="t"/>
          <a:lstStyle/>
          <a:p>
            <a:pPr indent="0" marL="0">
              <a:buNone/>
            </a:pPr>
            <a:r>
              <a:rPr lang="en-US" sz="1500" b="1" dirty="0">
                <a:solidFill>
                  <a:schemeClr val="tx2"/>
                </a:solidFill>
              </a:rPr>
              <a:t>Checkpoints saved us</a:t>
            </a:r>
            <a:endParaRPr lang="en-US" sz="1500" dirty="0"/>
          </a:p>
        </p:txBody>
      </p:sp>
      <p:sp>
        <p:nvSpPr>
          <p:cNvPr id="26" name="Text 21"/>
          <p:cNvSpPr txBox="1"/>
          <p:nvPr/>
        </p:nvSpPr>
        <p:spPr>
          <a:xfrm>
            <a:off x="7269480" y="5138928"/>
            <a:ext cx="4343400" cy="868680"/>
          </a:xfrm>
          <a:prstGeom prst="rect">
            <a:avLst/>
          </a:prstGeom>
          <a:noFill/>
          <a:ln/>
        </p:spPr>
        <p:txBody>
          <a:bodyPr wrap="square" lIns="0" tIns="0" rIns="0" bIns="0" rtlCol="0" anchor="t"/>
          <a:lstStyle/>
          <a:p>
            <a:pPr indent="0" marL="0">
              <a:buNone/>
            </a:pPr>
            <a:r>
              <a:rPr lang="en-US" sz="1300" dirty="0">
                <a:solidFill>
                  <a:srgbClr val="5C6660"/>
                </a:solidFill>
              </a:rPr>
              <a:t>Colab dropped at step 85 of 89 after 3.5 h; the adapter was saved to Drive every 10 steps.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300" b="1" dirty="0">
                <a:solidFill>
                  <a:schemeClr val="accent1"/>
                </a:solidFill>
              </a:rPr>
              <a:t>SECTION C · RESULTS: PERPLEXITY</a:t>
            </a:r>
            <a:endParaRPr lang="en-US" sz="13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t"/>
          <a:lstStyle/>
          <a:p>
            <a:pPr indent="0" marL="0">
              <a:buNone/>
            </a:pPr>
            <a:r>
              <a:rPr lang="en-US" sz="3200" b="1" dirty="0">
                <a:solidFill>
                  <a:schemeClr val="tx2"/>
                </a:solidFill>
              </a:rPr>
              <a:t>Stage 1 improved every health set, with no forgetting</a:t>
            </a:r>
            <a:endParaRPr lang="en-US" sz="3200" dirty="0"/>
          </a:p>
        </p:txBody>
      </p:sp>
      <p:graphicFrame>
        <p:nvGraphicFramePr>
          <p:cNvPr id="4" name="Chart 0" descr=""/>
          <p:cNvGraphicFramePr/>
          <p:nvPr/>
        </p:nvGraphicFramePr>
        <p:xfrm>
          <a:off x="457200" y="1600200"/>
          <a:ext cx="6949440" cy="46177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772400" y="1691640"/>
            <a:ext cx="384048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−11.8%</a:t>
            </a:r>
            <a:endParaRPr lang="en-US" sz="3000" dirty="0"/>
          </a:p>
        </p:txBody>
      </p:sp>
      <p:sp>
        <p:nvSpPr>
          <p:cNvPr id="6" name="Text 3"/>
          <p:cNvSpPr txBox="1"/>
          <p:nvPr/>
        </p:nvSpPr>
        <p:spPr>
          <a:xfrm>
            <a:off x="7772400" y="2240280"/>
            <a:ext cx="3840480" cy="548640"/>
          </a:xfrm>
          <a:prstGeom prst="rect">
            <a:avLst/>
          </a:prstGeom>
          <a:noFill/>
          <a:ln/>
        </p:spPr>
        <p:txBody>
          <a:bodyPr wrap="square" lIns="0" tIns="0" rIns="0" bIns="0" rtlCol="0" anchor="t"/>
          <a:lstStyle/>
          <a:p>
            <a:pPr indent="0" marL="0">
              <a:buNone/>
            </a:pPr>
            <a:r>
              <a:rPr lang="en-US" sz="1400" dirty="0">
                <a:solidFill>
                  <a:srgbClr val="5C6660"/>
                </a:solidFill>
              </a:rPr>
              <a:t>PubMed Central, A → B (most of the training text)</a:t>
            </a:r>
            <a:endParaRPr lang="en-US" sz="1400" dirty="0"/>
          </a:p>
        </p:txBody>
      </p:sp>
      <p:sp>
        <p:nvSpPr>
          <p:cNvPr id="7" name="Text 4"/>
          <p:cNvSpPr txBox="1"/>
          <p:nvPr/>
        </p:nvSpPr>
        <p:spPr>
          <a:xfrm>
            <a:off x="7772400" y="2880360"/>
            <a:ext cx="384048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−9.1%</a:t>
            </a:r>
            <a:endParaRPr lang="en-US" sz="3000" dirty="0"/>
          </a:p>
        </p:txBody>
      </p:sp>
      <p:sp>
        <p:nvSpPr>
          <p:cNvPr id="8" name="Text 5"/>
          <p:cNvSpPr txBox="1"/>
          <p:nvPr/>
        </p:nvSpPr>
        <p:spPr>
          <a:xfrm>
            <a:off x="7772400" y="3429000"/>
            <a:ext cx="3840480" cy="548640"/>
          </a:xfrm>
          <a:prstGeom prst="rect">
            <a:avLst/>
          </a:prstGeom>
          <a:noFill/>
          <a:ln/>
        </p:spPr>
        <p:txBody>
          <a:bodyPr wrap="square" lIns="0" tIns="0" rIns="0" bIns="0" rtlCol="0" anchor="t"/>
          <a:lstStyle/>
          <a:p>
            <a:pPr indent="0" marL="0">
              <a:buNone/>
            </a:pPr>
            <a:r>
              <a:rPr lang="en-US" sz="1400" dirty="0">
                <a:solidFill>
                  <a:srgbClr val="5C6660"/>
                </a:solidFill>
              </a:rPr>
              <a:t>Ghana guidelines, from under 3% of the corpus (×3 upweighting)</a:t>
            </a:r>
            <a:endParaRPr lang="en-US" sz="1400" dirty="0"/>
          </a:p>
        </p:txBody>
      </p:sp>
      <p:sp>
        <p:nvSpPr>
          <p:cNvPr id="9" name="Text 6"/>
          <p:cNvSpPr txBox="1"/>
          <p:nvPr/>
        </p:nvSpPr>
        <p:spPr>
          <a:xfrm>
            <a:off x="7772400" y="4069080"/>
            <a:ext cx="3840480" cy="54864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No forgetting</a:t>
            </a:r>
            <a:endParaRPr lang="en-US" sz="3000" dirty="0"/>
          </a:p>
        </p:txBody>
      </p:sp>
      <p:sp>
        <p:nvSpPr>
          <p:cNvPr id="10" name="Text 7"/>
          <p:cNvSpPr txBox="1"/>
          <p:nvPr/>
        </p:nvSpPr>
        <p:spPr>
          <a:xfrm>
            <a:off x="7772400" y="4617720"/>
            <a:ext cx="3840480" cy="548640"/>
          </a:xfrm>
          <a:prstGeom prst="rect">
            <a:avLst/>
          </a:prstGeom>
          <a:noFill/>
          <a:ln/>
        </p:spPr>
        <p:txBody>
          <a:bodyPr wrap="square" lIns="0" tIns="0" rIns="0" bIns="0" rtlCol="0" anchor="t"/>
          <a:lstStyle/>
          <a:p>
            <a:pPr indent="0" marL="0">
              <a:buNone/>
            </a:pPr>
            <a:r>
              <a:rPr lang="en-US" sz="1400" dirty="0">
                <a:solidFill>
                  <a:srgbClr val="5C6660"/>
                </a:solidFill>
              </a:rPr>
              <a:t>WikiText-2 control: 9.66 → 9.50, no worse on general English</a:t>
            </a:r>
            <a:endParaRPr lang="en-US" sz="1400" dirty="0"/>
          </a:p>
        </p:txBody>
      </p:sp>
      <p:sp>
        <p:nvSpPr>
          <p:cNvPr id="11" name="Text 8"/>
          <p:cNvSpPr txBox="1"/>
          <p:nvPr/>
        </p:nvSpPr>
        <p:spPr>
          <a:xfrm>
            <a:off x="7772400" y="5440680"/>
            <a:ext cx="3840480" cy="731520"/>
          </a:xfrm>
          <a:prstGeom prst="rect">
            <a:avLst/>
          </a:prstGeom>
          <a:noFill/>
          <a:ln/>
        </p:spPr>
        <p:txBody>
          <a:bodyPr wrap="square" lIns="0" tIns="0" rIns="0" bIns="0" rtlCol="0" anchor="t"/>
          <a:lstStyle/>
          <a:p>
            <a:pPr indent="0" marL="0">
              <a:buNone/>
            </a:pPr>
            <a:r>
              <a:rPr lang="en-US" sz="1300" i="1" dirty="0">
                <a:solidFill>
                  <a:srgbClr val="5C6660"/>
                </a:solidFill>
              </a:rPr>
              <a:t>Stage 2 gives a little back (Ghana 5.99 → 6.20): it trains answers, not raw text.</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11064240" cy="320040"/>
          </a:xfrm>
          <a:prstGeom prst="rect">
            <a:avLst/>
          </a:prstGeom>
          <a:noFill/>
          <a:ln/>
        </p:spPr>
        <p:txBody>
          <a:bodyPr wrap="square" lIns="0" tIns="0" rIns="0" bIns="0" rtlCol="0"/>
          <a:lstStyle/>
          <a:p>
            <a:pPr indent="0" marL="0">
              <a:buNone/>
            </a:pPr>
            <a:r>
              <a:rPr lang="en-US" sz="1300" b="1" dirty="0">
                <a:solidFill>
                  <a:schemeClr val="accent1"/>
                </a:solidFill>
              </a:rPr>
              <a:t>SECTION C · RESULTS: EXAM QUESTIONS</a:t>
            </a:r>
            <a:endParaRPr lang="en-US" sz="1300" dirty="0"/>
          </a:p>
        </p:txBody>
      </p:sp>
      <p:sp>
        <p:nvSpPr>
          <p:cNvPr id="3" name="Text 0"/>
          <p:cNvSpPr/>
          <p:nvPr>
            <p:ph idx="101" type="title" hasCustomPrompt="1"/>
          </p:nvPr>
        </p:nvSpPr>
        <p:spPr>
          <a:xfrm>
            <a:off x="548640" y="658368"/>
            <a:ext cx="11064240" cy="731520"/>
          </a:xfrm>
          <a:prstGeom prst="rect">
            <a:avLst/>
          </a:prstGeom>
          <a:noFill/>
          <a:ln/>
        </p:spPr>
        <p:txBody>
          <a:bodyPr wrap="square" lIns="0" tIns="0" rIns="0" bIns="0" rtlCol="0" anchor="t"/>
          <a:lstStyle/>
          <a:p>
            <a:pPr indent="0" marL="0">
              <a:buNone/>
            </a:pPr>
            <a:r>
              <a:rPr lang="en-US" sz="3200" b="1" dirty="0">
                <a:solidFill>
                  <a:schemeClr val="tx2"/>
                </a:solidFill>
              </a:rPr>
              <a:t>Exam accuracy barely moved; answer format improved most</a:t>
            </a:r>
            <a:endParaRPr lang="en-US" sz="3200" dirty="0"/>
          </a:p>
        </p:txBody>
      </p:sp>
      <p:graphicFrame>
        <p:nvGraphicFramePr>
          <p:cNvPr id="4" name="Chart 0" descr=""/>
          <p:cNvGraphicFramePr/>
          <p:nvPr/>
        </p:nvGraphicFramePr>
        <p:xfrm>
          <a:off x="457200" y="1600200"/>
          <a:ext cx="6400800" cy="4617720"/>
        </p:xfrm>
        <a:graphic xmlns:a="http://schemas.openxmlformats.org/drawingml/2006/main">
          <a:graphicData uri="http://schemas.openxmlformats.org/drawingml/2006/chart">
            <c:chart xmlns:c="http://schemas.openxmlformats.org/drawingml/2006/chart" r:id="rId1"/>
          </a:graphicData>
        </a:graphic>
      </p:graphicFrame>
      <p:sp>
        <p:nvSpPr>
          <p:cNvPr id="5" name="Noise card"/>
          <p:cNvSpPr/>
          <p:nvPr/>
        </p:nvSpPr>
        <p:spPr>
          <a:xfrm>
            <a:off x="7223760" y="1645920"/>
            <a:ext cx="4389120" cy="1417320"/>
          </a:xfrm>
          <a:prstGeom prst="roundRect">
            <a:avLst>
              <a:gd name="adj" fmla="val 7742"/>
            </a:avLst>
          </a:prstGeom>
          <a:solidFill>
            <a:schemeClr val="bg2"/>
          </a:solidFill>
          <a:ln/>
        </p:spPr>
      </p:sp>
      <p:sp>
        <p:nvSpPr>
          <p:cNvPr id="6" name="Text 3"/>
          <p:cNvSpPr txBox="1"/>
          <p:nvPr/>
        </p:nvSpPr>
        <p:spPr>
          <a:xfrm>
            <a:off x="7406640" y="1737360"/>
            <a:ext cx="4023360" cy="1234440"/>
          </a:xfrm>
          <a:prstGeom prst="rect">
            <a:avLst/>
          </a:prstGeom>
          <a:noFill/>
          <a:ln/>
        </p:spPr>
        <p:txBody>
          <a:bodyPr wrap="square" lIns="0" tIns="0" rIns="0" bIns="0" rtlCol="0" anchor="ctr"/>
          <a:lstStyle/>
          <a:p>
            <a:pPr indent="0" marL="0">
              <a:buNone/>
            </a:pPr>
            <a:r>
              <a:rPr lang="en-US" sz="1400" b="1" dirty="0">
                <a:solidFill>
                  <a:schemeClr val="tx2"/>
                </a:solidFill>
              </a:rPr>
              <a:t>MedQA, MedMCQA: </a:t>
            </a:r>
            <a:pPr indent="0" marL="0">
              <a:buNone/>
            </a:pPr>
            <a:r>
              <a:rPr lang="en-US" sz="1400" dirty="0">
                <a:solidFill>
                  <a:schemeClr val="tx1"/>
                </a:solidFill>
              </a:rPr>
              <a:t>1–2 point moves, inside the ±5.7-point margin at N = 300. No reliable change.</a:t>
            </a:r>
            <a:endParaRPr lang="en-US" sz="1400" dirty="0"/>
          </a:p>
        </p:txBody>
      </p:sp>
      <p:sp>
        <p:nvSpPr>
          <p:cNvPr id="7" name="PubMedQA card"/>
          <p:cNvSpPr/>
          <p:nvPr/>
        </p:nvSpPr>
        <p:spPr>
          <a:xfrm>
            <a:off x="7223760" y="3246120"/>
            <a:ext cx="4389120" cy="1417320"/>
          </a:xfrm>
          <a:prstGeom prst="roundRect">
            <a:avLst>
              <a:gd name="adj" fmla="val 7742"/>
            </a:avLst>
          </a:prstGeom>
          <a:solidFill>
            <a:schemeClr val="bg2"/>
          </a:solidFill>
          <a:ln/>
        </p:spPr>
      </p:sp>
      <p:sp>
        <p:nvSpPr>
          <p:cNvPr id="8" name="Text 5"/>
          <p:cNvSpPr txBox="1"/>
          <p:nvPr/>
        </p:nvSpPr>
        <p:spPr>
          <a:xfrm>
            <a:off x="7406640" y="3337560"/>
            <a:ext cx="4023360" cy="1234440"/>
          </a:xfrm>
          <a:prstGeom prst="rect">
            <a:avLst/>
          </a:prstGeom>
          <a:noFill/>
          <a:ln/>
        </p:spPr>
        <p:txBody>
          <a:bodyPr wrap="square" lIns="0" tIns="0" rIns="0" bIns="0" rtlCol="0" anchor="ctr"/>
          <a:lstStyle/>
          <a:p>
            <a:pPr indent="0" marL="0">
              <a:buNone/>
            </a:pPr>
            <a:r>
              <a:rPr lang="en-US" sz="1400" b="1" dirty="0">
                <a:solidFill>
                  <a:schemeClr val="tx2"/>
                </a:solidFill>
              </a:rPr>
              <a:t>PubMedQA 70.0 → 76.0: </a:t>
            </a:r>
            <a:pPr indent="0" marL="0">
              <a:buNone/>
            </a:pPr>
            <a:r>
              <a:rPr lang="en-US" sz="1400" dirty="0">
                <a:solidFill>
                  <a:schemeClr val="tx1"/>
                </a:solidFill>
              </a:rPr>
              <a:t>the largest gain; suggestive, but needs a paired significance test.</a:t>
            </a:r>
            <a:endParaRPr lang="en-US" sz="1400" dirty="0"/>
          </a:p>
        </p:txBody>
      </p:sp>
      <p:sp>
        <p:nvSpPr>
          <p:cNvPr id="9" name="Format card"/>
          <p:cNvSpPr/>
          <p:nvPr/>
        </p:nvSpPr>
        <p:spPr>
          <a:xfrm>
            <a:off x="7223760" y="4846320"/>
            <a:ext cx="4389120" cy="1371600"/>
          </a:xfrm>
          <a:prstGeom prst="roundRect">
            <a:avLst>
              <a:gd name="adj" fmla="val 8000"/>
            </a:avLst>
          </a:prstGeom>
          <a:solidFill>
            <a:schemeClr val="accent1"/>
          </a:solidFill>
          <a:ln/>
        </p:spPr>
      </p:sp>
      <p:sp>
        <p:nvSpPr>
          <p:cNvPr id="10" name="Text 7"/>
          <p:cNvSpPr txBox="1"/>
          <p:nvPr/>
        </p:nvSpPr>
        <p:spPr>
          <a:xfrm>
            <a:off x="7406640" y="4937760"/>
            <a:ext cx="4023360" cy="1188720"/>
          </a:xfrm>
          <a:prstGeom prst="rect">
            <a:avLst/>
          </a:prstGeom>
          <a:noFill/>
          <a:ln/>
        </p:spPr>
        <p:txBody>
          <a:bodyPr wrap="square" lIns="0" tIns="0" rIns="0" bIns="0" rtlCol="0" anchor="ctr"/>
          <a:lstStyle/>
          <a:p>
            <a:pPr indent="0" marL="0">
              <a:buNone/>
            </a:pPr>
            <a:r>
              <a:rPr lang="en-US" sz="1400" b="1" dirty="0">
                <a:solidFill>
                  <a:schemeClr val="bg1"/>
                </a:solidFill>
              </a:rPr>
              <a:t>Chat-format penalty: </a:t>
            </a:r>
            <a:pPr indent="0" marL="0">
              <a:buNone/>
            </a:pPr>
            <a:r>
              <a:rPr lang="en-US" sz="1400" dirty="0">
                <a:solidFill>
                  <a:schemeClr val="bg1"/>
                </a:solidFill>
              </a:rPr>
              <a:t>A 4.3 pts, B 5.1 pts, C only 1.1 pts. Stage 2 taught the model to answer.</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457200"/>
            <a:ext cx="11064240" cy="320040"/>
          </a:xfrm>
          <a:prstGeom prst="rect">
            <a:avLst/>
          </a:prstGeom>
          <a:noFill/>
          <a:ln/>
        </p:spPr>
        <p:txBody>
          <a:bodyPr wrap="square" lIns="0" tIns="0" rIns="0" bIns="0" rtlCol="0"/>
          <a:lstStyle/>
          <a:p>
            <a:pPr indent="0" marL="0">
              <a:buNone/>
            </a:pPr>
            <a:r>
              <a:rPr lang="en-US" sz="1300" b="1" dirty="0">
                <a:solidFill>
                  <a:schemeClr val="accent2"/>
                </a:solidFill>
              </a:rPr>
              <a:t>TAKEAWAYS</a:t>
            </a:r>
            <a:endParaRPr lang="en-US" sz="1300" dirty="0"/>
          </a:p>
        </p:txBody>
      </p:sp>
      <p:sp>
        <p:nvSpPr>
          <p:cNvPr id="3" name="Text 0"/>
          <p:cNvSpPr/>
          <p:nvPr>
            <p:ph idx="101" type="title" hasCustomPrompt="1"/>
          </p:nvPr>
        </p:nvSpPr>
        <p:spPr>
          <a:xfrm>
            <a:off x="548640" y="822960"/>
            <a:ext cx="11064240" cy="731520"/>
          </a:xfrm>
          <a:prstGeom prst="rect">
            <a:avLst/>
          </a:prstGeom>
          <a:noFill/>
          <a:ln/>
        </p:spPr>
        <p:txBody>
          <a:bodyPr wrap="square" lIns="0" tIns="0" rIns="0" bIns="0" rtlCol="0" anchor="t"/>
          <a:lstStyle/>
          <a:p>
            <a:pPr indent="0" marL="0">
              <a:buNone/>
            </a:pPr>
            <a:r>
              <a:rPr lang="en-US" sz="3400" b="1" dirty="0">
                <a:solidFill>
                  <a:schemeClr val="bg1"/>
                </a:solidFill>
              </a:rPr>
              <a:t>What both projects taught us</a:t>
            </a:r>
            <a:endParaRPr lang="en-US" sz="3400" dirty="0"/>
          </a:p>
        </p:txBody>
      </p:sp>
      <p:sp>
        <p:nvSpPr>
          <p:cNvPr id="4" name="Test beyond the metric"/>
          <p:cNvSpPr/>
          <p:nvPr/>
        </p:nvSpPr>
        <p:spPr>
          <a:xfrm>
            <a:off x="548640" y="1828800"/>
            <a:ext cx="3474720" cy="3017520"/>
          </a:xfrm>
          <a:prstGeom prst="roundRect">
            <a:avLst>
              <a:gd name="adj" fmla="val 3636"/>
            </a:avLst>
          </a:prstGeom>
          <a:solidFill>
            <a:schemeClr val="accent1"/>
          </a:solidFill>
          <a:ln/>
        </p:spPr>
      </p:sp>
      <p:sp>
        <p:nvSpPr>
          <p:cNvPr id="5" name="Test beyond the metric circle"/>
          <p:cNvSpPr/>
          <p:nvPr/>
        </p:nvSpPr>
        <p:spPr>
          <a:xfrm>
            <a:off x="822960" y="2103120"/>
            <a:ext cx="685800" cy="685800"/>
          </a:xfrm>
          <a:prstGeom prst="ellipse">
            <a:avLst/>
          </a:prstGeom>
          <a:solidFill>
            <a:schemeClr val="accent2"/>
          </a:solidFill>
          <a:ln/>
        </p:spPr>
      </p:sp>
      <p:pic>
        <p:nvPicPr>
          <p:cNvPr id="6" name="Test beyond the metric icon" descr="preencoded.png">    </p:cNvPr>
          <p:cNvPicPr>
            <a:picLocks noChangeAspect="1"/>
          </p:cNvPicPr>
          <p:nvPr/>
        </p:nvPicPr>
        <p:blipFill>
          <a:blip r:embed="rId1"/>
          <a:stretch>
            <a:fillRect/>
          </a:stretch>
        </p:blipFill>
        <p:spPr>
          <a:xfrm>
            <a:off x="994410" y="2274570"/>
            <a:ext cx="342900" cy="342900"/>
          </a:xfrm>
          <a:prstGeom prst="rect">
            <a:avLst/>
          </a:prstGeom>
        </p:spPr>
      </p:pic>
      <p:sp>
        <p:nvSpPr>
          <p:cNvPr id="7" name="Text 4"/>
          <p:cNvSpPr txBox="1"/>
          <p:nvPr/>
        </p:nvSpPr>
        <p:spPr>
          <a:xfrm>
            <a:off x="822960" y="2926080"/>
            <a:ext cx="3017520" cy="411480"/>
          </a:xfrm>
          <a:prstGeom prst="rect">
            <a:avLst/>
          </a:prstGeom>
          <a:noFill/>
          <a:ln/>
        </p:spPr>
        <p:txBody>
          <a:bodyPr wrap="square" lIns="0" tIns="0" rIns="0" bIns="0" rtlCol="0" anchor="t"/>
          <a:lstStyle/>
          <a:p>
            <a:pPr indent="0" marL="0">
              <a:buNone/>
            </a:pPr>
            <a:r>
              <a:rPr lang="en-US" sz="1700" b="1" dirty="0">
                <a:solidFill>
                  <a:schemeClr val="bg1"/>
                </a:solidFill>
              </a:rPr>
              <a:t>Test beyond the metric</a:t>
            </a:r>
            <a:endParaRPr lang="en-US" sz="1700" dirty="0"/>
          </a:p>
        </p:txBody>
      </p:sp>
      <p:sp>
        <p:nvSpPr>
          <p:cNvPr id="8" name="Text 5"/>
          <p:cNvSpPr txBox="1"/>
          <p:nvPr/>
        </p:nvSpPr>
        <p:spPr>
          <a:xfrm>
            <a:off x="822960" y="3383280"/>
            <a:ext cx="3017520" cy="1371600"/>
          </a:xfrm>
          <a:prstGeom prst="rect">
            <a:avLst/>
          </a:prstGeom>
          <a:noFill/>
          <a:ln/>
        </p:spPr>
        <p:txBody>
          <a:bodyPr wrap="square" lIns="0" tIns="0" rIns="0" bIns="0" rtlCol="0" anchor="t"/>
          <a:lstStyle/>
          <a:p>
            <a:pPr indent="0" marL="0">
              <a:buNone/>
            </a:pPr>
            <a:r>
              <a:rPr lang="en-US" sz="1400" dirty="0">
                <a:solidFill>
                  <a:schemeClr val="bg2"/>
                </a:solidFill>
              </a:rPr>
              <a:t>A better number hid broken models twice: nonsense beating real Ewe, and a health corpus with no Ghana text.</a:t>
            </a:r>
            <a:endParaRPr lang="en-US" sz="1400" dirty="0"/>
          </a:p>
        </p:txBody>
      </p:sp>
      <p:sp>
        <p:nvSpPr>
          <p:cNvPr id="9" name="Small, local data still counts"/>
          <p:cNvSpPr/>
          <p:nvPr/>
        </p:nvSpPr>
        <p:spPr>
          <a:xfrm>
            <a:off x="4389120" y="1828800"/>
            <a:ext cx="3474720" cy="3017520"/>
          </a:xfrm>
          <a:prstGeom prst="roundRect">
            <a:avLst>
              <a:gd name="adj" fmla="val 3636"/>
            </a:avLst>
          </a:prstGeom>
          <a:solidFill>
            <a:schemeClr val="accent1"/>
          </a:solidFill>
          <a:ln/>
        </p:spPr>
      </p:sp>
      <p:sp>
        <p:nvSpPr>
          <p:cNvPr id="10" name="Small, local data still counts circle"/>
          <p:cNvSpPr/>
          <p:nvPr/>
        </p:nvSpPr>
        <p:spPr>
          <a:xfrm>
            <a:off x="4663440" y="2103120"/>
            <a:ext cx="685800" cy="685800"/>
          </a:xfrm>
          <a:prstGeom prst="ellipse">
            <a:avLst/>
          </a:prstGeom>
          <a:solidFill>
            <a:schemeClr val="accent2"/>
          </a:solidFill>
          <a:ln/>
        </p:spPr>
      </p:sp>
      <p:pic>
        <p:nvPicPr>
          <p:cNvPr id="11" name="Small, local data still counts icon" descr="preencoded.png">    </p:cNvPr>
          <p:cNvPicPr>
            <a:picLocks noChangeAspect="1"/>
          </p:cNvPicPr>
          <p:nvPr/>
        </p:nvPicPr>
        <p:blipFill>
          <a:blip r:embed="rId2"/>
          <a:stretch>
            <a:fillRect/>
          </a:stretch>
        </p:blipFill>
        <p:spPr>
          <a:xfrm>
            <a:off x="4834890" y="2274570"/>
            <a:ext cx="342900" cy="342900"/>
          </a:xfrm>
          <a:prstGeom prst="rect">
            <a:avLst/>
          </a:prstGeom>
        </p:spPr>
      </p:pic>
      <p:sp>
        <p:nvSpPr>
          <p:cNvPr id="12" name="Text 8"/>
          <p:cNvSpPr txBox="1"/>
          <p:nvPr/>
        </p:nvSpPr>
        <p:spPr>
          <a:xfrm>
            <a:off x="4663440" y="2926080"/>
            <a:ext cx="3017520" cy="411480"/>
          </a:xfrm>
          <a:prstGeom prst="rect">
            <a:avLst/>
          </a:prstGeom>
          <a:noFill/>
          <a:ln/>
        </p:spPr>
        <p:txBody>
          <a:bodyPr wrap="square" lIns="0" tIns="0" rIns="0" bIns="0" rtlCol="0" anchor="t"/>
          <a:lstStyle/>
          <a:p>
            <a:pPr indent="0" marL="0">
              <a:buNone/>
            </a:pPr>
            <a:r>
              <a:rPr lang="en-US" sz="1700" b="1" dirty="0">
                <a:solidFill>
                  <a:schemeClr val="bg1"/>
                </a:solidFill>
              </a:rPr>
              <a:t>Small, local data still counts</a:t>
            </a:r>
            <a:endParaRPr lang="en-US" sz="1700" dirty="0"/>
          </a:p>
        </p:txBody>
      </p:sp>
      <p:sp>
        <p:nvSpPr>
          <p:cNvPr id="13" name="Text 9"/>
          <p:cNvSpPr txBox="1"/>
          <p:nvPr/>
        </p:nvSpPr>
        <p:spPr>
          <a:xfrm>
            <a:off x="4663440" y="3383280"/>
            <a:ext cx="3017520" cy="1371600"/>
          </a:xfrm>
          <a:prstGeom prst="rect">
            <a:avLst/>
          </a:prstGeom>
          <a:noFill/>
          <a:ln/>
        </p:spPr>
        <p:txBody>
          <a:bodyPr wrap="square" lIns="0" tIns="0" rIns="0" bIns="0" rtlCol="0" anchor="t"/>
          <a:lstStyle/>
          <a:p>
            <a:pPr indent="0" marL="0">
              <a:buNone/>
            </a:pPr>
            <a:r>
              <a:rPr lang="en-US" sz="1400" dirty="0">
                <a:solidFill>
                  <a:schemeClr val="bg2"/>
                </a:solidFill>
              </a:rPr>
              <a:t>Upweighting Ghana's guidelines bought a 9.1% perplexity gain from under 3% of the text.</a:t>
            </a:r>
            <a:endParaRPr lang="en-US" sz="1400" dirty="0"/>
          </a:p>
        </p:txBody>
      </p:sp>
      <p:sp>
        <p:nvSpPr>
          <p:cNvPr id="14" name="Fluent is not correct"/>
          <p:cNvSpPr/>
          <p:nvPr/>
        </p:nvSpPr>
        <p:spPr>
          <a:xfrm>
            <a:off x="8229600" y="1828800"/>
            <a:ext cx="3474720" cy="3017520"/>
          </a:xfrm>
          <a:prstGeom prst="roundRect">
            <a:avLst>
              <a:gd name="adj" fmla="val 3636"/>
            </a:avLst>
          </a:prstGeom>
          <a:solidFill>
            <a:schemeClr val="accent1"/>
          </a:solidFill>
          <a:ln/>
        </p:spPr>
      </p:sp>
      <p:sp>
        <p:nvSpPr>
          <p:cNvPr id="15" name="Fluent is not correct circle"/>
          <p:cNvSpPr/>
          <p:nvPr/>
        </p:nvSpPr>
        <p:spPr>
          <a:xfrm>
            <a:off x="8503920" y="2103120"/>
            <a:ext cx="685800" cy="685800"/>
          </a:xfrm>
          <a:prstGeom prst="ellipse">
            <a:avLst/>
          </a:prstGeom>
          <a:solidFill>
            <a:schemeClr val="accent2"/>
          </a:solidFill>
          <a:ln/>
        </p:spPr>
      </p:sp>
      <p:pic>
        <p:nvPicPr>
          <p:cNvPr id="16" name="Fluent is not correct icon" descr="preencoded.png">    </p:cNvPr>
          <p:cNvPicPr>
            <a:picLocks noChangeAspect="1"/>
          </p:cNvPicPr>
          <p:nvPr/>
        </p:nvPicPr>
        <p:blipFill>
          <a:blip r:embed="rId3"/>
          <a:stretch>
            <a:fillRect/>
          </a:stretch>
        </p:blipFill>
        <p:spPr>
          <a:xfrm>
            <a:off x="8675370" y="2274570"/>
            <a:ext cx="342900" cy="342900"/>
          </a:xfrm>
          <a:prstGeom prst="rect">
            <a:avLst/>
          </a:prstGeom>
        </p:spPr>
      </p:pic>
      <p:sp>
        <p:nvSpPr>
          <p:cNvPr id="17" name="Text 12"/>
          <p:cNvSpPr txBox="1"/>
          <p:nvPr/>
        </p:nvSpPr>
        <p:spPr>
          <a:xfrm>
            <a:off x="8503920" y="2926080"/>
            <a:ext cx="3017520" cy="411480"/>
          </a:xfrm>
          <a:prstGeom prst="rect">
            <a:avLst/>
          </a:prstGeom>
          <a:noFill/>
          <a:ln/>
        </p:spPr>
        <p:txBody>
          <a:bodyPr wrap="square" lIns="0" tIns="0" rIns="0" bIns="0" rtlCol="0" anchor="t"/>
          <a:lstStyle/>
          <a:p>
            <a:pPr indent="0" marL="0">
              <a:buNone/>
            </a:pPr>
            <a:r>
              <a:rPr lang="en-US" sz="1700" b="1" dirty="0">
                <a:solidFill>
                  <a:schemeClr val="bg1"/>
                </a:solidFill>
              </a:rPr>
              <a:t>Fluent is not correct</a:t>
            </a:r>
            <a:endParaRPr lang="en-US" sz="1700" dirty="0"/>
          </a:p>
        </p:txBody>
      </p:sp>
      <p:sp>
        <p:nvSpPr>
          <p:cNvPr id="18" name="Text 13"/>
          <p:cNvSpPr txBox="1"/>
          <p:nvPr/>
        </p:nvSpPr>
        <p:spPr>
          <a:xfrm>
            <a:off x="8503920" y="3383280"/>
            <a:ext cx="3017520" cy="1371600"/>
          </a:xfrm>
          <a:prstGeom prst="rect">
            <a:avLst/>
          </a:prstGeom>
          <a:noFill/>
          <a:ln/>
        </p:spPr>
        <p:txBody>
          <a:bodyPr wrap="square" lIns="0" tIns="0" rIns="0" bIns="0" rtlCol="0" anchor="t"/>
          <a:lstStyle/>
          <a:p>
            <a:pPr indent="0" marL="0">
              <a:buNone/>
            </a:pPr>
            <a:r>
              <a:rPr lang="en-US" sz="1400" dirty="0">
                <a:solidFill>
                  <a:schemeClr val="bg2"/>
                </a:solidFill>
              </a:rPr>
              <a:t>No native Ewe speaker and no clinician has reviewed the output yet. Neither model is ready for real use.</a:t>
            </a:r>
            <a:endParaRPr lang="en-US" sz="1400" dirty="0"/>
          </a:p>
        </p:txBody>
      </p:sp>
      <p:sp>
        <p:nvSpPr>
          <p:cNvPr id="19" name="Text 14"/>
          <p:cNvSpPr txBox="1"/>
          <p:nvPr/>
        </p:nvSpPr>
        <p:spPr>
          <a:xfrm>
            <a:off x="548640" y="5166360"/>
            <a:ext cx="11064240" cy="640080"/>
          </a:xfrm>
          <a:prstGeom prst="rect">
            <a:avLst/>
          </a:prstGeom>
          <a:noFill/>
          <a:ln/>
        </p:spPr>
        <p:txBody>
          <a:bodyPr wrap="square" lIns="0" tIns="0" rIns="0" bIns="0" rtlCol="0" anchor="t"/>
          <a:lstStyle/>
          <a:p>
            <a:pPr indent="0" marL="0">
              <a:buNone/>
            </a:pPr>
            <a:r>
              <a:rPr lang="en-US" sz="1500" b="1" dirty="0">
                <a:solidFill>
                  <a:schemeClr val="accent2"/>
                </a:solidFill>
              </a:rPr>
              <a:t>Next: </a:t>
            </a:r>
            <a:pPr indent="0" marL="0">
              <a:buNone/>
            </a:pPr>
            <a:r>
              <a:rPr lang="en-US" sz="1500" dirty="0">
                <a:solidFill>
                  <a:schemeClr val="bg1"/>
                </a:solidFill>
              </a:rPr>
              <a:t>Kneser-Ney smoothing and a tokeniser fix for Ewe; a neural baseline; fix the generation stop token; a retrieval comparison; expert review of outputs.</a:t>
            </a:r>
            <a:endParaRPr lang="en-US" sz="1500" dirty="0"/>
          </a:p>
        </p:txBody>
      </p:sp>
      <p:sp>
        <p:nvSpPr>
          <p:cNvPr id="20" name="Text 15"/>
          <p:cNvSpPr txBox="1"/>
          <p:nvPr/>
        </p:nvSpPr>
        <p:spPr>
          <a:xfrm>
            <a:off x="548640" y="5897880"/>
            <a:ext cx="7315200" cy="411480"/>
          </a:xfrm>
          <a:prstGeom prst="rect">
            <a:avLst/>
          </a:prstGeom>
          <a:noFill/>
          <a:ln/>
        </p:spPr>
        <p:txBody>
          <a:bodyPr wrap="square" lIns="0" tIns="0" rIns="0" bIns="0" rtlCol="0" anchor="t"/>
          <a:lstStyle/>
          <a:p>
            <a:pPr indent="0" marL="0">
              <a:buNone/>
            </a:pPr>
            <a:r>
              <a:rPr lang="en-US" sz="1800" b="1" dirty="0">
                <a:solidFill>
                  <a:schemeClr val="accent2"/>
                </a:solidFill>
                <a:latin typeface="Cambria" pitchFamily="34" charset="0"/>
                <a:ea typeface="Cambria" pitchFamily="34" charset="-122"/>
                <a:cs typeface="Cambria" pitchFamily="34" charset="-120"/>
              </a:rPr>
              <a:t>Thank you. Questions?</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Group 3 Prosit">
  <a:themeElements>
    <a:clrScheme name="Group 3 Prosit">
      <a:dk1>
        <a:srgbClr val="1E2622"/>
      </a:dk1>
      <a:lt1>
        <a:srgbClr val="FFFFFF"/>
      </a:lt1>
      <a:dk2>
        <a:srgbClr val="0B3D2E"/>
      </a:dk2>
      <a:lt2>
        <a:srgbClr val="EEF4F0"/>
      </a:lt2>
      <a:accent1>
        <a:srgbClr val="0F6B4A"/>
      </a:accent1>
      <a:accent2>
        <a:srgbClr val="D99A1E"/>
      </a:accent2>
      <a:accent3>
        <a:srgbClr val="B5432F"/>
      </a:accent3>
      <a:accent4>
        <a:srgbClr val="7FA392"/>
      </a:accent4>
      <a:accent5>
        <a:srgbClr val="2F5D8A"/>
      </a:accent5>
      <a:accent6>
        <a:srgbClr val="8A8F8C"/>
      </a:accent6>
      <a:hlink>
        <a:srgbClr val="0F6B4A"/>
      </a:hlink>
      <a:folHlink>
        <a:srgbClr val="7FA392"/>
      </a:folHlink>
    </a:clrScheme>
    <a:fontScheme name="Group 3 Pros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and Adapting Language Models</dc:title>
  <dc:subject>PptxGenJS Presentation</dc:subject>
  <dc:creator>Group 3</dc:creator>
  <cp:lastModifiedBy>Group 3</cp:lastModifiedBy>
  <cp:revision>1</cp:revision>
  <dcterms:created xsi:type="dcterms:W3CDTF">2026-10-05T23:05:10Z</dcterms:created>
  <dcterms:modified xsi:type="dcterms:W3CDTF">2026-10-05T23:05:10Z</dcterms:modified>
</cp:coreProperties>
</file>